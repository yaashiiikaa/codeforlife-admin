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9"/>
  </p:notesMasterIdLst>
  <p:sldIdLst>
    <p:sldId id="256" r:id="rId2"/>
    <p:sldId id="287" r:id="rId3"/>
    <p:sldId id="288" r:id="rId4"/>
    <p:sldId id="306" r:id="rId5"/>
    <p:sldId id="307" r:id="rId6"/>
    <p:sldId id="309" r:id="rId7"/>
    <p:sldId id="308" r:id="rId8"/>
    <p:sldId id="310" r:id="rId9"/>
    <p:sldId id="319" r:id="rId10"/>
    <p:sldId id="311" r:id="rId11"/>
    <p:sldId id="313" r:id="rId12"/>
    <p:sldId id="312" r:id="rId13"/>
    <p:sldId id="314" r:id="rId14"/>
    <p:sldId id="315" r:id="rId15"/>
    <p:sldId id="316" r:id="rId16"/>
    <p:sldId id="317" r:id="rId17"/>
    <p:sldId id="318" r:id="rId18"/>
    <p:sldId id="285" r:id="rId19"/>
    <p:sldId id="264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4" r:id="rId35"/>
    <p:sldId id="303" r:id="rId36"/>
    <p:sldId id="305" r:id="rId37"/>
    <p:sldId id="284" r:id="rId3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Helvetica Neue" panose="020B0604020202020204" charset="0"/>
      <p:regular r:id="rId44"/>
      <p:bold r:id="rId45"/>
      <p:italic r:id="rId46"/>
      <p:boldItalic r:id="rId47"/>
    </p:embeddedFont>
    <p:embeddedFont>
      <p:font typeface="Inter" panose="020B0604020202020204" charset="0"/>
      <p:regular r:id="rId48"/>
      <p:bold r:id="rId49"/>
      <p:italic r:id="rId50"/>
      <p:boldItalic r:id="rId51"/>
    </p:embeddedFont>
    <p:embeddedFont>
      <p:font typeface="Space Grotesk Medium" panose="020B0604020202020204" charset="0"/>
      <p:regular r:id="rId52"/>
      <p:bold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F0C7AE-1334-419A-946F-E5E88168B178}">
  <a:tblStyle styleId="{ADF0C7AE-1334-419A-946F-E5E88168B1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28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f24edde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f24edde6d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971da88386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971da88386_0_20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>
          <a:extLst>
            <a:ext uri="{FF2B5EF4-FFF2-40B4-BE49-F238E27FC236}">
              <a16:creationId xmlns:a16="http://schemas.microsoft.com/office/drawing/2014/main" id="{8E771942-9634-8540-A7D4-01F11B35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971da88386_0_206:notes">
            <a:extLst>
              <a:ext uri="{FF2B5EF4-FFF2-40B4-BE49-F238E27FC236}">
                <a16:creationId xmlns:a16="http://schemas.microsoft.com/office/drawing/2014/main" id="{109498D1-CC35-8B02-B69D-6115F44B5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971da88386_0_206:notes">
            <a:extLst>
              <a:ext uri="{FF2B5EF4-FFF2-40B4-BE49-F238E27FC236}">
                <a16:creationId xmlns:a16="http://schemas.microsoft.com/office/drawing/2014/main" id="{E5C90861-C51A-E3DB-E337-E5AF47421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558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971da8838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971da88386_0_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71da88386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71da88386_0_2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if-</a:t>
            </a:r>
            <a:r>
              <a:rPr lang="ta-IN" sz="1200" dirty="0">
                <a:latin typeface="Arial" panose="020B0604020202020204" pitchFamily="34" charset="0"/>
                <a:cs typeface="Arial" panose="020B0604020202020204" pitchFamily="34" charset="0"/>
              </a:rPr>
              <a:t>ஸ்டேட்மென்ட் தவறானது. நிறம் சிவப்பு மற்றும் நீலம் மற்றும் பச்சை நிறமாக இருக்கக்கூடாது, இங்கு பயன்படுத்தப்படும் பூலியன் ஆபரேட்டர் ‘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or’ </a:t>
            </a:r>
            <a:r>
              <a:rPr lang="ta-IN" sz="1200" dirty="0">
                <a:latin typeface="Arial" panose="020B0604020202020204" pitchFamily="34" charset="0"/>
                <a:cs typeface="Arial" panose="020B0604020202020204" pitchFamily="34" charset="0"/>
              </a:rPr>
              <a:t>ஆக இருக்க வேண்டும்.</a:t>
            </a: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for Life">
  <p:cSld name="CUSTOM_7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326050" y="317100"/>
            <a:ext cx="7392600" cy="4998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title" idx="2"/>
          </p:nvPr>
        </p:nvSpPr>
        <p:spPr>
          <a:xfrm>
            <a:off x="326050" y="980100"/>
            <a:ext cx="68238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Font typeface="Inter"/>
              <a:buNone/>
              <a:defRPr sz="1800" i="0" u="none" strike="noStrike" cap="none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defRPr>
            </a:lvl1pPr>
            <a:lvl2pPr marL="0" marR="0" lvl="1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4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30">
            <a:extLst>
              <a:ext uri="{FF2B5EF4-FFF2-40B4-BE49-F238E27FC236}">
                <a16:creationId xmlns:a16="http://schemas.microsoft.com/office/drawing/2014/main" id="{C96260B8-4290-7135-0C99-854BB37B1D4A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3075" y="-33675"/>
            <a:ext cx="9250150" cy="4326951"/>
          </a:xfrm>
          <a:prstGeom prst="rect">
            <a:avLst/>
          </a:prstGeom>
          <a:solidFill>
            <a:srgbClr val="E0004D"/>
          </a:solidFill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1654559" y="1681225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"/>
              <a:buFont typeface="Space Grotesk Medium"/>
              <a:buNone/>
              <a:defRPr sz="3100" b="1" i="0" u="none" strike="noStrike" cap="none">
                <a:solidFill>
                  <a:srgbClr val="F3F3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 1">
  <p:cSld name="CUSTOM_4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;p33">
            <a:extLst>
              <a:ext uri="{FF2B5EF4-FFF2-40B4-BE49-F238E27FC236}">
                <a16:creationId xmlns:a16="http://schemas.microsoft.com/office/drawing/2014/main" id="{A3FE1744-D9A5-F303-CEAA-B3E127EA9D49}"/>
              </a:ext>
            </a:extLst>
          </p:cNvPr>
          <p:cNvSpPr/>
          <p:nvPr userDrawn="1"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654559" y="1681225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"/>
              <a:buFont typeface="Space Grotesk Medium"/>
              <a:buNone/>
              <a:defRPr sz="2700" i="0" u="none" strike="noStrike" cap="none">
                <a:solidFill>
                  <a:srgbClr val="F3F3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800">
                <a:latin typeface="Arial" panose="020B0604020202020204" pitchFamily="34" charset="0"/>
                <a:ea typeface="Inter" panose="020B0604020202020204" charset="0"/>
              </a:defRPr>
            </a:lvl1pPr>
            <a:lvl2pPr marL="914400" lvl="1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000"/>
              </a:spcBef>
              <a:spcAft>
                <a:spcPts val="1000"/>
              </a:spcAft>
              <a:buSzPts val="1600"/>
              <a:buChar char="■"/>
              <a:defRPr/>
            </a:lvl9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36668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26059" y="317100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B3B"/>
              </a:buClr>
              <a:buSzPts val="100"/>
              <a:buFont typeface="Space Grotesk Medium"/>
              <a:buNone/>
              <a:defRPr sz="2700" i="0" u="none" strike="noStrike" cap="none">
                <a:solidFill>
                  <a:srgbClr val="383B3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 idx="2"/>
          </p:nvPr>
        </p:nvSpPr>
        <p:spPr>
          <a:xfrm>
            <a:off x="326050" y="980100"/>
            <a:ext cx="6823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-6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0"/>
              <a:buFont typeface="Inter"/>
              <a:buChar char="●"/>
              <a:defRPr sz="2000" i="0" u="none" strike="noStrike" cap="none"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●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01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●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590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79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9850" y="4509225"/>
            <a:ext cx="1136748" cy="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9725" y="1588950"/>
            <a:ext cx="62058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8D5FC56C-B1F4-8E24-1DF9-9EEEB9E5D560}"/>
              </a:ext>
            </a:extLst>
          </p:cNvPr>
          <p:cNvSpPr txBox="1"/>
          <p:nvPr userDrawn="1"/>
        </p:nvSpPr>
        <p:spPr>
          <a:xfrm>
            <a:off x="3193650" y="4544288"/>
            <a:ext cx="27567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rPr>
              <a:t>Original Copyright Ocado Group 2024</a:t>
            </a:r>
            <a:endParaRPr sz="500" b="0" i="0" u="none" strike="noStrike" cap="none" dirty="0">
              <a:solidFill>
                <a:srgbClr val="6262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;p29">
            <a:extLst>
              <a:ext uri="{FF2B5EF4-FFF2-40B4-BE49-F238E27FC236}">
                <a16:creationId xmlns:a16="http://schemas.microsoft.com/office/drawing/2014/main" id="{165DD4F8-E7A4-0033-213E-0CD9E07BCE99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/>
          <a:stretch/>
        </p:blipFill>
        <p:spPr>
          <a:xfrm>
            <a:off x="8233816" y="4291101"/>
            <a:ext cx="910172" cy="85240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6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3">
          <p15:clr>
            <a:srgbClr val="EA4335"/>
          </p15:clr>
        </p15:guide>
        <p15:guide id="2" orient="horz" pos="67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840350" y="1526250"/>
            <a:ext cx="7293600" cy="20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ta-IN" sz="3200" dirty="0">
                <a:solidFill>
                  <a:srgbClr val="FFFFFF"/>
                </a:solidFill>
                <a:latin typeface="Space Grotesk Medium" panose="020B0604020202020204" charset="0"/>
                <a:ea typeface="Space Grotesk"/>
                <a:cs typeface="Space Grotesk Medium" panose="020B0604020202020204" charset="0"/>
                <a:sym typeface="Space Grotesk"/>
              </a:rPr>
              <a:t>அமர்வு 7</a:t>
            </a:r>
          </a:p>
          <a:p>
            <a:pPr lvl="0" algn="ctr"/>
            <a:r>
              <a:rPr lang="ta-IN" sz="3200" dirty="0">
                <a:solidFill>
                  <a:srgbClr val="FFFFFF"/>
                </a:solidFill>
                <a:latin typeface="Space Grotesk Medium" panose="020B0604020202020204" charset="0"/>
                <a:ea typeface="Space Grotesk"/>
                <a:cs typeface="Space Grotesk Medium" panose="020B0604020202020204" charset="0"/>
                <a:sym typeface="Space Grotesk"/>
              </a:rPr>
              <a:t>ஒரு சுழற்சியில் தேர்வு</a:t>
            </a: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பாடம் ஆரம்பிப்பவர்</a:t>
            </a:r>
            <a:endParaRPr dirty="0"/>
          </a:p>
        </p:txBody>
      </p:sp>
      <p:sp>
        <p:nvSpPr>
          <p:cNvPr id="265" name="Google Shape;265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303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000"/>
              </a:spcAft>
              <a:buNone/>
            </a:pPr>
            <a:r>
              <a:rPr lang="ta-IN" sz="1600" dirty="0"/>
              <a:t>இந்தக் குறியீடு பத்து நாடுகளின் பெயர்களை உள்ளிட உங்களைக் கேட்கிறது. </a:t>
            </a:r>
          </a:p>
          <a:p>
            <a:pPr marL="0" lvl="0" indent="0">
              <a:spcAft>
                <a:spcPts val="1000"/>
              </a:spcAft>
              <a:buNone/>
            </a:pPr>
            <a:r>
              <a:rPr lang="ta-IN" sz="1600" dirty="0"/>
              <a:t>உள்ளீட்டுத் தூண்டுதல்களைத் தவிர, அந்த நாடுகளில் ஒன்று:</a:t>
            </a:r>
          </a:p>
          <a:p>
            <a:pPr marL="0" lvl="0" indent="0">
              <a:spcAft>
                <a:spcPts val="1000"/>
              </a:spcAft>
              <a:buNone/>
            </a:pPr>
            <a:r>
              <a:rPr lang="ta-IN" sz="1600" dirty="0"/>
              <a:t>பிரான்ஸ்</a:t>
            </a:r>
          </a:p>
          <a:p>
            <a:pPr marL="0" lvl="0" indent="0">
              <a:spcAft>
                <a:spcPts val="1000"/>
              </a:spcAft>
              <a:buNone/>
            </a:pPr>
            <a:r>
              <a:rPr lang="ta-IN" sz="1600" dirty="0"/>
              <a:t>இங்கிலாந்து</a:t>
            </a:r>
          </a:p>
          <a:p>
            <a:pPr marL="0" lvl="0" indent="0">
              <a:spcAft>
                <a:spcPts val="1000"/>
              </a:spcAft>
              <a:buNone/>
            </a:pPr>
            <a:r>
              <a:rPr lang="ta-IN" sz="1600" dirty="0"/>
              <a:t>பிரான்ஸ்</a:t>
            </a:r>
            <a:endParaRPr sz="1600" b="1" dirty="0"/>
          </a:p>
        </p:txBody>
      </p:sp>
      <p:pic>
        <p:nvPicPr>
          <p:cNvPr id="266" name="Google Shape;266;p41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940" y="2164022"/>
            <a:ext cx="6414351" cy="1486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>
          <a:extLst>
            <a:ext uri="{FF2B5EF4-FFF2-40B4-BE49-F238E27FC236}">
              <a16:creationId xmlns:a16="http://schemas.microsoft.com/office/drawing/2014/main" id="{101F7EAA-D94F-A2BA-7EE2-D4B9913F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>
            <a:extLst>
              <a:ext uri="{FF2B5EF4-FFF2-40B4-BE49-F238E27FC236}">
                <a16:creationId xmlns:a16="http://schemas.microsoft.com/office/drawing/2014/main" id="{9280BE4A-A72F-7371-04E9-9EBF03E17A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பாடம் ஆரம்பிப்பவர்</a:t>
            </a:r>
            <a:endParaRPr dirty="0"/>
          </a:p>
        </p:txBody>
      </p:sp>
      <p:sp>
        <p:nvSpPr>
          <p:cNvPr id="265" name="Google Shape;265;p41">
            <a:extLst>
              <a:ext uri="{FF2B5EF4-FFF2-40B4-BE49-F238E27FC236}">
                <a16:creationId xmlns:a16="http://schemas.microsoft.com/office/drawing/2014/main" id="{4A7201BD-A8E1-ED06-D1F6-7DDF06954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18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ta-IN" sz="1600" dirty="0"/>
              <a:t>இந்தக் குறியீடு பத்து நாடுகளின் பெயர்களை உள்ளிட உங்களைக் கேட்கிறது. </a:t>
            </a:r>
            <a:endParaRPr lang="en-US" sz="1600" dirty="0"/>
          </a:p>
          <a:p>
            <a:r>
              <a:rPr lang="ta-IN" sz="1600" dirty="0"/>
              <a:t>உள்ளீட்டுத் தூண்டுதல்களைத் தவிர, அந்த நாடுகளில் ஒன்று:</a:t>
            </a:r>
            <a:endParaRPr lang="en-US" sz="1600" dirty="0"/>
          </a:p>
          <a:p>
            <a:pPr marL="285750" indent="-285750">
              <a:spcAft>
                <a:spcPts val="1000"/>
              </a:spcAft>
            </a:pPr>
            <a:endParaRPr lang="en-GB" sz="1600" dirty="0"/>
          </a:p>
          <a:p>
            <a:pPr marL="285750" indent="-285750">
              <a:spcAft>
                <a:spcPts val="1000"/>
              </a:spcAft>
            </a:pPr>
            <a:r>
              <a:rPr lang="ta-IN" sz="1600" dirty="0"/>
              <a:t>பிரான்ஸ்</a:t>
            </a:r>
            <a:r>
              <a:rPr lang="en-GB" dirty="0"/>
              <a:t> --</a:t>
            </a:r>
            <a:r>
              <a:rPr lang="en-GB" dirty="0">
                <a:solidFill>
                  <a:srgbClr val="FF0000"/>
                </a:solidFill>
              </a:rPr>
              <a:t>Bonjour!</a:t>
            </a:r>
          </a:p>
          <a:p>
            <a:pPr marL="285750" indent="-285750">
              <a:spcAft>
                <a:spcPts val="1000"/>
              </a:spcAft>
            </a:pPr>
            <a:r>
              <a:rPr lang="ta-IN" sz="1600" dirty="0"/>
              <a:t>இங்கிலாந்து</a:t>
            </a:r>
            <a:r>
              <a:rPr lang="en-GB" sz="1600" dirty="0"/>
              <a:t> </a:t>
            </a:r>
            <a:r>
              <a:rPr lang="en-GB" dirty="0"/>
              <a:t>– </a:t>
            </a:r>
            <a:r>
              <a:rPr lang="en-GB" dirty="0">
                <a:solidFill>
                  <a:srgbClr val="FF0000"/>
                </a:solidFill>
              </a:rPr>
              <a:t>nothing</a:t>
            </a:r>
          </a:p>
          <a:p>
            <a:pPr marL="285750" indent="-285750">
              <a:spcAft>
                <a:spcPts val="1000"/>
              </a:spcAft>
            </a:pPr>
            <a:r>
              <a:rPr lang="ta-IN" sz="1600" dirty="0"/>
              <a:t>பிரான்ஸ்</a:t>
            </a:r>
            <a:r>
              <a:rPr lang="en-GB" dirty="0"/>
              <a:t> – </a:t>
            </a:r>
            <a:r>
              <a:rPr lang="en-GB" dirty="0">
                <a:solidFill>
                  <a:srgbClr val="FF0000"/>
                </a:solidFill>
              </a:rPr>
              <a:t>nothing</a:t>
            </a:r>
          </a:p>
          <a:p>
            <a:pPr marL="285750" indent="-285750">
              <a:spcAft>
                <a:spcPts val="1000"/>
              </a:spcAft>
            </a:pPr>
            <a:endParaRPr b="1" dirty="0"/>
          </a:p>
        </p:txBody>
      </p:sp>
      <p:pic>
        <p:nvPicPr>
          <p:cNvPr id="2" name="Google Shape;266;p41">
            <a:extLst>
              <a:ext uri="{FF2B5EF4-FFF2-40B4-BE49-F238E27FC236}">
                <a16:creationId xmlns:a16="http://schemas.microsoft.com/office/drawing/2014/main" id="{162A0A6B-2B4C-B532-3B77-2D0A903647C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455" y="2097520"/>
            <a:ext cx="6234545" cy="1486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491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C2B226-1329-457C-4B56-38ED0BCB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செயல்பாடு 1: பைதான் டெனில் "</a:t>
            </a:r>
            <a:r>
              <a:rPr lang="en-GB" dirty="0"/>
              <a:t>while loop" </a:t>
            </a:r>
            <a:r>
              <a:rPr lang="ta-IN" dirty="0"/>
              <a:t>இல் தேர்வு செய்தல்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7165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C00E51-2A86-5C5F-EBB0-B754D382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20087"/>
            <a:ext cx="8520600" cy="572700"/>
          </a:xfrm>
        </p:spPr>
        <p:txBody>
          <a:bodyPr/>
          <a:lstStyle/>
          <a:p>
            <a:r>
              <a:rPr lang="en-GB" dirty="0"/>
              <a:t>while loop </a:t>
            </a:r>
            <a:r>
              <a:rPr lang="ta-IN" dirty="0"/>
              <a:t>இல் தேர்வு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2CF11-F494-F9AD-D34C-DB5FDB52D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3643773" cy="1569630"/>
          </a:xfrm>
        </p:spPr>
        <p:txBody>
          <a:bodyPr/>
          <a:lstStyle/>
          <a:p>
            <a:r>
              <a:rPr lang="ta-IN" dirty="0"/>
              <a:t>இந்த குறியீடு வேலை செய்யாது.</a:t>
            </a:r>
          </a:p>
          <a:p>
            <a:r>
              <a:rPr lang="ta-IN" dirty="0"/>
              <a:t>ஒவ்வொரு பசுவையும் நகர்த்த நாம் சங்கு ஒலிக்க வேண்டும்.</a:t>
            </a:r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6D0E1D24-38E5-75A1-3893-EA890037565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06F705-1439-C9C0-3CE1-AF07F4B0EF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80"/>
          <a:stretch/>
        </p:blipFill>
        <p:spPr>
          <a:xfrm>
            <a:off x="4142508" y="1225475"/>
            <a:ext cx="3879273" cy="30422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09EE2D-5713-94C3-DB49-94CA76354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606" y="2842013"/>
            <a:ext cx="2316139" cy="12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7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C00E51-2A86-5C5F-EBB0-B754D382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while loop </a:t>
            </a:r>
            <a:r>
              <a:rPr lang="ta-IN" dirty="0"/>
              <a:t>இல் தேர்வு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2CF11-F494-F9AD-D34C-DB5FDB52D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4191027" cy="738633"/>
          </a:xfrm>
        </p:spPr>
        <p:txBody>
          <a:bodyPr/>
          <a:lstStyle/>
          <a:p>
            <a:r>
              <a:rPr lang="ta-IN" dirty="0"/>
              <a:t>எந்தெந்த தொகுதிகள் நமக்கு உதவ முடியும்?</a:t>
            </a:r>
            <a:r>
              <a:rPr lang="en-GB" dirty="0"/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18B799-87A9-3B53-3548-156A1F61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363" y="237275"/>
            <a:ext cx="3636820" cy="4055321"/>
          </a:xfrm>
          <a:prstGeom prst="rect">
            <a:avLst/>
          </a:prstGeom>
        </p:spPr>
      </p:pic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6D0E1D24-38E5-75A1-3893-EA890037565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250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C00E51-2A86-5C5F-EBB0-B754D382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"while loop" </a:t>
            </a:r>
            <a:r>
              <a:rPr lang="ta-IN" dirty="0"/>
              <a:t>இல் தேர்வு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2CF11-F494-F9AD-D34C-DB5FDB52D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4080191" cy="170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a-IN" sz="1600" dirty="0"/>
              <a:t>எந்தெந்த தொகுதிகள் நமக்கு உதவ முடியும்?</a:t>
            </a:r>
            <a:endParaRPr lang="en-GB" sz="1600" dirty="0"/>
          </a:p>
          <a:p>
            <a:pPr>
              <a:lnSpc>
                <a:spcPct val="150000"/>
              </a:lnSpc>
            </a:pPr>
            <a:r>
              <a:rPr lang="ta-IN" sz="1600" dirty="0"/>
              <a:t>பைதான் டெனில் நிலை 14 ஐச் செய்யுங்கள்</a:t>
            </a:r>
            <a:r>
              <a:rPr lang="ta-IN" dirty="0"/>
              <a:t>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33A49C-17D0-4F1B-3C4B-E7E874A3A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803" y="237275"/>
            <a:ext cx="3713671" cy="4057200"/>
          </a:xfrm>
          <a:prstGeom prst="rect">
            <a:avLst/>
          </a:prstGeom>
        </p:spPr>
      </p:pic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6D0E1D24-38E5-75A1-3893-EA890037565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1159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B006-7C1F-E6E7-63D0-61BA3FD0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while loop </a:t>
            </a:r>
            <a:r>
              <a:rPr lang="ta-IN" dirty="0"/>
              <a:t>இல் தேர்வு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38406-7B12-43F9-CF97-0F7881E28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13936" cy="27699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a-IN" sz="1600" dirty="0"/>
              <a:t>நீங்கள் நிலை 14 ஐ முடித்துவிட்டீர்களா?</a:t>
            </a:r>
          </a:p>
          <a:p>
            <a:pPr>
              <a:lnSpc>
                <a:spcPct val="150000"/>
              </a:lnSpc>
            </a:pPr>
            <a:endParaRPr lang="ta-IN" sz="1600" dirty="0"/>
          </a:p>
          <a:p>
            <a:pPr>
              <a:lnSpc>
                <a:spcPct val="150000"/>
              </a:lnSpc>
            </a:pPr>
            <a:r>
              <a:rPr lang="ta-IN" sz="1600" dirty="0"/>
              <a:t>முன்னோக்கிச் செல்வதற்கு முன், நீங்கள் ஒரு பசுவைச் சரிபார்த்து, கொம்பை அடிக்க வேண்டும்.</a:t>
            </a: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BA335-2046-7972-44CD-E3C05891A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17725"/>
            <a:ext cx="3839111" cy="2934109"/>
          </a:xfrm>
          <a:prstGeom prst="rect">
            <a:avLst/>
          </a:prstGeom>
        </p:spPr>
      </p:pic>
      <p:sp>
        <p:nvSpPr>
          <p:cNvPr id="6" name="Google Shape;120;p22">
            <a:extLst>
              <a:ext uri="{FF2B5EF4-FFF2-40B4-BE49-F238E27FC236}">
                <a16:creationId xmlns:a16="http://schemas.microsoft.com/office/drawing/2014/main" id="{290D429B-7BD5-D053-36BA-A070CAA3A068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518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B006-7C1F-E6E7-63D0-61BA3FD0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while loop </a:t>
            </a:r>
            <a:r>
              <a:rPr lang="ta-IN" dirty="0"/>
              <a:t>இல் தேர்வு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38406-7B12-43F9-CF97-0F7881E28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92531"/>
            <a:ext cx="3913936" cy="954077"/>
          </a:xfrm>
        </p:spPr>
        <p:txBody>
          <a:bodyPr/>
          <a:lstStyle/>
          <a:p>
            <a:endParaRPr lang="en-GB" dirty="0"/>
          </a:p>
          <a:p>
            <a:r>
              <a:rPr lang="ta-IN" sz="1600" dirty="0"/>
              <a:t>பைதான் டெனில் 15 - 18 நிலைகளைச் செய்யுங்கள்.</a:t>
            </a: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BA335-2046-7972-44CD-E3C05891A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17725"/>
            <a:ext cx="3839111" cy="2934109"/>
          </a:xfrm>
          <a:prstGeom prst="rect">
            <a:avLst/>
          </a:prstGeom>
        </p:spPr>
      </p:pic>
      <p:sp>
        <p:nvSpPr>
          <p:cNvPr id="6" name="Google Shape;120;p22">
            <a:extLst>
              <a:ext uri="{FF2B5EF4-FFF2-40B4-BE49-F238E27FC236}">
                <a16:creationId xmlns:a16="http://schemas.microsoft.com/office/drawing/2014/main" id="{290D429B-7BD5-D053-36BA-A070CAA3A068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EF914C-D8AF-0906-0395-E98A616DD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83" y="2188114"/>
            <a:ext cx="24574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360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A31FC-7D29-9C59-4451-09A9A6FE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sz="2400" dirty="0"/>
              <a:t>செயல்பாடு 2: சிறிது நேரத்தில் </a:t>
            </a:r>
            <a:r>
              <a:rPr lang="en-GB" sz="2400" dirty="0" err="1"/>
              <a:t>if..else</a:t>
            </a:r>
            <a:r>
              <a:rPr lang="en-GB" sz="2400" dirty="0"/>
              <a:t> </a:t>
            </a:r>
            <a:r>
              <a:rPr lang="ta-IN" sz="2400" dirty="0"/>
              <a:t>ஐ ஆராய்தல்</a:t>
            </a:r>
            <a:r>
              <a:rPr lang="ta-IN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156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2B98DF-D788-8894-5588-FF472CDA9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Consolas" panose="020B0609020204030204" pitchFamily="49" charset="0"/>
              </a:rPr>
              <a:t>if..else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5AA1B-1A86-3D71-D839-5CC1C904C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" y="1017725"/>
            <a:ext cx="8740860" cy="842606"/>
          </a:xfrm>
        </p:spPr>
        <p:txBody>
          <a:bodyPr/>
          <a:lstStyle/>
          <a:p>
            <a:pPr marL="127000" indent="0">
              <a:buNone/>
            </a:pPr>
            <a:r>
              <a:rPr lang="ta-IN" sz="1600" dirty="0"/>
              <a:t>இந்த குறியீடு வேலை </a:t>
            </a:r>
            <a:endParaRPr lang="en-US" sz="1600" dirty="0"/>
          </a:p>
          <a:p>
            <a:pPr marL="127000" indent="0">
              <a:buNone/>
            </a:pPr>
            <a:r>
              <a:rPr lang="ta-IN" sz="1600" dirty="0"/>
              <a:t>செய்யுமா</a:t>
            </a:r>
            <a:r>
              <a:rPr lang="ta-IN" dirty="0"/>
              <a:t>?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B0EFD-0718-7576-1494-E12C482FD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50" y="321967"/>
            <a:ext cx="6586110" cy="375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997656-CF4A-8E67-07F9-C212AA0E4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14" y="1614110"/>
            <a:ext cx="2917974" cy="2450746"/>
          </a:xfrm>
          <a:prstGeom prst="rect">
            <a:avLst/>
          </a:prstGeom>
        </p:spPr>
      </p:pic>
      <p:sp>
        <p:nvSpPr>
          <p:cNvPr id="7" name="Google Shape;120;p22">
            <a:extLst>
              <a:ext uri="{FF2B5EF4-FFF2-40B4-BE49-F238E27FC236}">
                <a16:creationId xmlns:a16="http://schemas.microsoft.com/office/drawing/2014/main" id="{728BA025-7448-E901-A66E-1509149315FB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8341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2B98DF-D788-8894-5588-FF472CDA9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Consolas" panose="020B0609020204030204" pitchFamily="49" charset="0"/>
              </a:rPr>
              <a:t>if..else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5AA1B-1A86-3D71-D839-5CC1C904C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நமக்கு என்ன தேவை?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B0EFD-0718-7576-1494-E12C482FD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890" y="445025"/>
            <a:ext cx="6586110" cy="37545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49DE85-5557-B2E0-F716-11745E32C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14" y="1614110"/>
            <a:ext cx="2917974" cy="2450746"/>
          </a:xfrm>
          <a:prstGeom prst="rect">
            <a:avLst/>
          </a:prstGeom>
        </p:spPr>
      </p:pic>
      <p:sp>
        <p:nvSpPr>
          <p:cNvPr id="13" name="Google Shape;120;p22">
            <a:extLst>
              <a:ext uri="{FF2B5EF4-FFF2-40B4-BE49-F238E27FC236}">
                <a16:creationId xmlns:a16="http://schemas.microsoft.com/office/drawing/2014/main" id="{5692A6A5-8F5A-F55F-6051-34AD44966657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6063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2B98DF-D788-8894-5588-FF472CDA9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Consolas" panose="020B0609020204030204" pitchFamily="49" charset="0"/>
              </a:rPr>
              <a:t>if..else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5AA1B-1A86-3D71-D839-5CC1C904C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43894"/>
            <a:ext cx="2980140" cy="885659"/>
          </a:xfrm>
        </p:spPr>
        <p:txBody>
          <a:bodyPr/>
          <a:lstStyle/>
          <a:p>
            <a:pPr marL="127000" indent="0">
              <a:buNone/>
            </a:pPr>
            <a:r>
              <a:rPr lang="ta-IN" sz="1600" dirty="0"/>
              <a:t>நாம் "வேறு"" பயன்படுத்த வேண்டும்.</a:t>
            </a:r>
            <a:endParaRPr lang="en-GB" sz="1600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B0EFD-0718-7576-1494-E12C482FD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890" y="445025"/>
            <a:ext cx="6586110" cy="375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08B7D1-300F-AC6A-473B-91263F22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78" y="1770610"/>
            <a:ext cx="2481961" cy="2295099"/>
          </a:xfrm>
          <a:prstGeom prst="rect">
            <a:avLst/>
          </a:prstGeom>
        </p:spPr>
      </p:pic>
      <p:sp>
        <p:nvSpPr>
          <p:cNvPr id="7" name="Google Shape;120;p22">
            <a:extLst>
              <a:ext uri="{FF2B5EF4-FFF2-40B4-BE49-F238E27FC236}">
                <a16:creationId xmlns:a16="http://schemas.microsoft.com/office/drawing/2014/main" id="{129F0936-D253-C232-B02D-F3BF55E9D96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6916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2B98DF-D788-8894-5588-FF472CDA9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Consolas" panose="020B0609020204030204" pitchFamily="49" charset="0"/>
              </a:rPr>
              <a:t>if..else</a:t>
            </a:r>
            <a:endParaRPr lang="en-GB" dirty="0">
              <a:latin typeface="Consolas" panose="020B060902020403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5AA1B-1A86-3D71-D839-5CC1C904C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2715518" cy="2031295"/>
          </a:xfrm>
        </p:spPr>
        <p:txBody>
          <a:bodyPr/>
          <a:lstStyle/>
          <a:p>
            <a:pPr marL="127000" indent="0">
              <a:lnSpc>
                <a:spcPct val="150000"/>
              </a:lnSpc>
              <a:buNone/>
            </a:pPr>
            <a:r>
              <a:rPr lang="ta-IN" sz="1600" dirty="0"/>
              <a:t>பைத்தானில் உள்ள அந்த குறியீடு இதோ</a:t>
            </a:r>
          </a:p>
          <a:p>
            <a:pPr marL="127000" indent="0">
              <a:lnSpc>
                <a:spcPct val="150000"/>
              </a:lnSpc>
              <a:buNone/>
            </a:pPr>
            <a:endParaRPr lang="ta-IN" sz="1600" dirty="0"/>
          </a:p>
          <a:p>
            <a:pPr marL="127000" indent="0">
              <a:lnSpc>
                <a:spcPct val="150000"/>
              </a:lnSpc>
              <a:buNone/>
            </a:pPr>
            <a:r>
              <a:rPr lang="ta-IN" sz="1600" dirty="0"/>
              <a:t>நிலைகள் 19 - 21 ஐச் செய்யுங்கள்</a:t>
            </a:r>
            <a:endParaRPr lang="en-GB" sz="16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B0EFD-0718-7576-1494-E12C482FD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84" y="126370"/>
            <a:ext cx="3970594" cy="22635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08B7D1-300F-AC6A-473B-91263F22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797" y="126370"/>
            <a:ext cx="2260064" cy="2232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7D805B-929F-7E53-8E98-CB064C033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011" y="2358787"/>
            <a:ext cx="2817977" cy="1773382"/>
          </a:xfrm>
          <a:prstGeom prst="rect">
            <a:avLst/>
          </a:prstGeom>
        </p:spPr>
      </p:pic>
      <p:sp>
        <p:nvSpPr>
          <p:cNvPr id="8" name="Google Shape;120;p22">
            <a:extLst>
              <a:ext uri="{FF2B5EF4-FFF2-40B4-BE49-F238E27FC236}">
                <a16:creationId xmlns:a16="http://schemas.microsoft.com/office/drawing/2014/main" id="{192B5FE4-95C8-8EF4-250F-44DE9CF53B62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7106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A31FC-7D29-9C59-4451-09A9A6FE9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945" y="1708934"/>
            <a:ext cx="6276109" cy="756900"/>
          </a:xfrm>
        </p:spPr>
        <p:txBody>
          <a:bodyPr/>
          <a:lstStyle/>
          <a:p>
            <a:r>
              <a:rPr lang="ta-IN" sz="2400" dirty="0"/>
              <a:t>செயல்பாடு 3: சிறிது நேரத்தில் </a:t>
            </a:r>
            <a:r>
              <a:rPr lang="en-GB" sz="2400" dirty="0"/>
              <a:t>if..</a:t>
            </a:r>
            <a:r>
              <a:rPr lang="en-GB" sz="2400" dirty="0" err="1"/>
              <a:t>elif</a:t>
            </a:r>
            <a:r>
              <a:rPr lang="en-GB" sz="2400" dirty="0"/>
              <a:t>..else </a:t>
            </a:r>
            <a:r>
              <a:rPr lang="ta-IN" sz="2400" dirty="0"/>
              <a:t>ஐ ஆராய்தல்</a:t>
            </a:r>
            <a:r>
              <a:rPr lang="ta-IN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145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E6B1A1-983F-68C8-80AD-DBB6CF31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sz="2400" dirty="0"/>
              <a:t>சிறிது நேரத்தில் </a:t>
            </a:r>
            <a:r>
              <a:rPr lang="en-GB" sz="2400" dirty="0"/>
              <a:t>if..</a:t>
            </a:r>
            <a:r>
              <a:rPr lang="en-GB" sz="2400" dirty="0" err="1"/>
              <a:t>elif</a:t>
            </a:r>
            <a:r>
              <a:rPr lang="en-GB" sz="2400" dirty="0"/>
              <a:t>..else </a:t>
            </a:r>
            <a:r>
              <a:rPr lang="ta-IN" sz="2400" dirty="0"/>
              <a:t>என்பதை ஆராய்தல்.</a:t>
            </a:r>
            <a:endParaRPr lang="en-GB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143AD-7140-B575-C6FD-9FA4556B0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60787"/>
            <a:ext cx="4953027" cy="24006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a-IN" sz="1600" dirty="0"/>
              <a:t>இந்த நிலையில், நாம் பல்வேறு புள்ளிகளில் இடது, வலது அல்லது முன்னோக்கி திரும்ப வேண்டும்</a:t>
            </a:r>
          </a:p>
          <a:p>
            <a:pPr>
              <a:lnSpc>
                <a:spcPct val="150000"/>
              </a:lnSpc>
            </a:pPr>
            <a:r>
              <a:rPr lang="ta-IN" sz="1600" dirty="0"/>
              <a:t>நமக்கு எந்த தொகுதி தேவை?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ta-IN" sz="1600" dirty="0"/>
              <a:t>நாம் </a:t>
            </a:r>
            <a:r>
              <a:rPr lang="en-GB" sz="1600" dirty="0"/>
              <a:t>if..</a:t>
            </a:r>
            <a:r>
              <a:rPr lang="en-GB" sz="1600" dirty="0" err="1"/>
              <a:t>elif</a:t>
            </a:r>
            <a:r>
              <a:rPr lang="en-GB" sz="1600" dirty="0"/>
              <a:t>..else </a:t>
            </a:r>
            <a:r>
              <a:rPr lang="ta-IN" sz="1600" dirty="0"/>
              <a:t>ஐப் பயன்படுத்த வேண்டும்</a:t>
            </a:r>
            <a:endParaRPr lang="en-GB" sz="1600" dirty="0">
              <a:latin typeface="Consolas" panose="020B0609020204030204" pitchFamily="49" charset="0"/>
            </a:endParaRPr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F6D81B80-C594-FE55-1D39-0AFE744E615A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7C9BD6-5E31-390F-912B-B8DE42B8E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303" y="1077202"/>
            <a:ext cx="3472997" cy="298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236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E6B1A1-983F-68C8-80AD-DBB6CF317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Exploring </a:t>
            </a:r>
            <a:r>
              <a:rPr lang="en-GB" sz="2800" dirty="0">
                <a:latin typeface="Consolas" panose="020B0609020204030204" pitchFamily="49" charset="0"/>
              </a:rPr>
              <a:t>if..</a:t>
            </a:r>
            <a:r>
              <a:rPr lang="en-GB" sz="2800" dirty="0" err="1">
                <a:latin typeface="Consolas" panose="020B0609020204030204" pitchFamily="49" charset="0"/>
              </a:rPr>
              <a:t>elif</a:t>
            </a:r>
            <a:r>
              <a:rPr lang="en-GB" sz="2800" dirty="0">
                <a:latin typeface="Consolas" panose="020B0609020204030204" pitchFamily="49" charset="0"/>
              </a:rPr>
              <a:t>..else </a:t>
            </a:r>
            <a:r>
              <a:rPr lang="en-GB" dirty="0"/>
              <a:t>in a </a:t>
            </a:r>
            <a:r>
              <a:rPr lang="en-GB" sz="2800" dirty="0">
                <a:latin typeface="Consolas" panose="020B0609020204030204" pitchFamily="49" charset="0"/>
              </a:rPr>
              <a:t>while</a:t>
            </a:r>
            <a:r>
              <a:rPr lang="en-GB" dirty="0"/>
              <a:t> loop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143AD-7140-B575-C6FD-9FA4556B0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953027" cy="1015632"/>
          </a:xfrm>
        </p:spPr>
        <p:txBody>
          <a:bodyPr/>
          <a:lstStyle/>
          <a:p>
            <a:r>
              <a:rPr lang="ta-IN" dirty="0"/>
              <a:t>இந்த நிரலை நிலை 22 க்கு முடித்துவிட்டு, பின்னர் நிலை 25 க்குத் தொடரவும்.</a:t>
            </a:r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F6D81B80-C594-FE55-1D39-0AFE744E615A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7C9BD6-5E31-390F-912B-B8DE42B8E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303" y="1077202"/>
            <a:ext cx="3472997" cy="29890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FED16A-EB6B-7E30-AEE7-6223960D2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82" y="1821732"/>
            <a:ext cx="2593258" cy="232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92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A31FC-7D29-9C59-4451-09A9A6FE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sz="2400" dirty="0"/>
              <a:t>செயல்பாடு 4: சிறிது நேரத்தில் தேர்வை ஆராய்தல்</a:t>
            </a:r>
            <a:r>
              <a:rPr lang="ta-IN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909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பைத்தானில் ஒரு "லூப்பில்" தேர்வு</a:t>
            </a:r>
            <a:endParaRPr dirty="0"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11700" y="1484125"/>
            <a:ext cx="8520600" cy="1015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buNone/>
            </a:pPr>
            <a:r>
              <a:rPr lang="ta-IN" dirty="0"/>
              <a:t>உங்கள் முறை! </a:t>
            </a:r>
          </a:p>
          <a:p>
            <a:pPr marL="0" lvl="0" indent="0">
              <a:buNone/>
            </a:pPr>
            <a:endParaRPr lang="ta-IN" dirty="0"/>
          </a:p>
          <a:p>
            <a:pPr marL="0" lvl="0" indent="0">
              <a:buNone/>
            </a:pPr>
            <a:r>
              <a:rPr lang="ta-IN" dirty="0"/>
              <a:t>உங்கள் பணித்தாளில் செயல்பாடு 4 ஐச் செய்யுங்கள்.</a:t>
            </a:r>
            <a:endParaRPr dirty="0"/>
          </a:p>
        </p:txBody>
      </p:sp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AD145A1E-BCF3-BC2B-D8F8-917A8C82A8C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B145F-1F00-DB0B-AA70-6D247494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பை</a:t>
            </a:r>
            <a:r>
              <a:rPr lang="en-GB" sz="28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ta-IN" dirty="0"/>
              <a:t>த்தானில் ஒரு "லூப்பில்" தேர்வு</a:t>
            </a:r>
            <a:r>
              <a:rPr lang="en-GB" dirty="0"/>
              <a:t> - </a:t>
            </a:r>
            <a:r>
              <a:rPr lang="ta-IN" dirty="0"/>
              <a:t>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9B54C-1085-950A-C68C-8480A7E52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015632"/>
          </a:xfrm>
        </p:spPr>
        <p:txBody>
          <a:bodyPr/>
          <a:lstStyle/>
          <a:p>
            <a:pPr marL="127000" indent="0"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</a:t>
            </a:r>
            <a:r>
              <a:rPr lang="ta-IN" sz="1600" dirty="0">
                <a:ea typeface="Times New Roman" panose="02020603050405020304" pitchFamily="18" charset="0"/>
              </a:rPr>
              <a:t>பயனர் தனது ஷாப்பிங் பட்டியலில் சேர்க்க பத்து பொருட்களை</a:t>
            </a:r>
            <a:r>
              <a:rPr lang="en-US" sz="1600" dirty="0">
                <a:ea typeface="Times New Roman" panose="02020603050405020304" pitchFamily="18" charset="0"/>
              </a:rPr>
              <a:t> </a:t>
            </a:r>
            <a:r>
              <a:rPr lang="ta-IN" sz="1600" dirty="0">
                <a:ea typeface="Times New Roman" panose="02020603050405020304" pitchFamily="18" charset="0"/>
              </a:rPr>
              <a:t>உள்ளிடச் சொல்லும் ஒரு நிரலை எழுதுங்கள். அவர்கள் பீட்சாவில் நுழைந்தால், உங்கள் நிரல் “</a:t>
            </a:r>
            <a:r>
              <a:rPr lang="en-GB" sz="1600" dirty="0">
                <a:ea typeface="Times New Roman" panose="02020603050405020304" pitchFamily="18" charset="0"/>
              </a:rPr>
              <a:t>Yum!” </a:t>
            </a:r>
            <a:r>
              <a:rPr lang="ta-IN" sz="1600" dirty="0">
                <a:ea typeface="Times New Roman" panose="02020603050405020304" pitchFamily="18" charset="0"/>
              </a:rPr>
              <a:t>என்று வெளியிட வேண்டும்</a:t>
            </a:r>
            <a:r>
              <a:rPr lang="ta-IN" dirty="0">
                <a:ea typeface="Times New Roman" panose="02020603050405020304" pitchFamily="18" charset="0"/>
              </a:rPr>
              <a:t>.</a:t>
            </a:r>
            <a:endParaRPr lang="en-GB" dirty="0"/>
          </a:p>
        </p:txBody>
      </p:sp>
      <p:sp>
        <p:nvSpPr>
          <p:cNvPr id="8" name="Google Shape;120;p22">
            <a:extLst>
              <a:ext uri="{FF2B5EF4-FFF2-40B4-BE49-F238E27FC236}">
                <a16:creationId xmlns:a16="http://schemas.microsoft.com/office/drawing/2014/main" id="{104FB008-5952-DA6E-DDAA-AD2FD6B49A0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</a:t>
            </a:r>
            <a:r>
              <a:rPr lang="en-GB" sz="1600" b="1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</a:rPr>
              <a:t>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6ED3A5-4647-EAA2-AFCF-EFC78B1A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01" y="2168107"/>
            <a:ext cx="4999004" cy="10765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0E9F8D-98C3-632A-1CB7-B8EB67486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184" y="2168107"/>
            <a:ext cx="3179116" cy="182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17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ED8A7-83CB-0D16-4448-D1347D465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86EB-F882-1477-2C85-0240DA1E5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பைத்தானில் ஒரு "லூப்பில்" தேர்வு</a:t>
            </a:r>
            <a:r>
              <a:rPr lang="en-GB" dirty="0"/>
              <a:t> - </a:t>
            </a:r>
            <a:r>
              <a:rPr lang="ta-IN" dirty="0"/>
              <a:t>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0A0F8-CAD9-F506-D76F-3AB0F7675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231076"/>
          </a:xfrm>
        </p:spPr>
        <p:txBody>
          <a:bodyPr/>
          <a:lstStyle/>
          <a:p>
            <a:pPr marL="127000" indent="0"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ta-IN" dirty="0">
                <a:ea typeface="Times New Roman" panose="02020603050405020304" pitchFamily="18" charset="0"/>
              </a:rPr>
              <a:t> . </a:t>
            </a:r>
            <a:r>
              <a:rPr lang="ta-IN" sz="1600" dirty="0">
                <a:ea typeface="Times New Roman" panose="02020603050405020304" pitchFamily="18" charset="0"/>
              </a:rPr>
              <a:t>உங்கள் தீர்வை உடற்பயிற்சி 1 க்கு நீட்டிக்கவும், இதனால் அவர்கள் "பிரஸ்ஸல் ஸ்ப்ரூட்ஸ்" என்று உள்ளிட்டால் அது "யூக்!" என்று வெளியிடுகிறது.</a:t>
            </a:r>
            <a:endParaRPr lang="en-GB" sz="16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8" name="Google Shape;120;p22">
            <a:extLst>
              <a:ext uri="{FF2B5EF4-FFF2-40B4-BE49-F238E27FC236}">
                <a16:creationId xmlns:a16="http://schemas.microsoft.com/office/drawing/2014/main" id="{FB424BC2-6539-9100-BBA4-D2A50F6185D7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A8F73-C51A-4102-9BB5-929D4BD55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26" y="2176312"/>
            <a:ext cx="4680029" cy="1569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7D178-3872-A02A-6057-B84A17A0C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46" y="1923746"/>
            <a:ext cx="3449554" cy="156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77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2861B-0DD0-30DC-0B97-1F7D0CA6C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1466C-3B1F-1575-3007-57731D276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33" y="419374"/>
            <a:ext cx="8520600" cy="572700"/>
          </a:xfrm>
        </p:spPr>
        <p:txBody>
          <a:bodyPr/>
          <a:lstStyle/>
          <a:p>
            <a:r>
              <a:rPr lang="ta-IN" dirty="0"/>
              <a:t>பைத்தானில் ஒரு "லூப்பில்" தேர்வு</a:t>
            </a:r>
            <a:r>
              <a:rPr lang="en-GB" dirty="0"/>
              <a:t> - </a:t>
            </a:r>
            <a:r>
              <a:rPr lang="ta-IN" dirty="0"/>
              <a:t>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89990-4FE1-AA5C-40AF-B14197F5B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954077"/>
          </a:xfrm>
        </p:spPr>
        <p:txBody>
          <a:bodyPr/>
          <a:lstStyle/>
          <a:p>
            <a:pPr marL="127000" indent="0">
              <a:buNone/>
            </a:pPr>
            <a:r>
              <a:rPr lang="en-GB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</a:t>
            </a:r>
            <a:r>
              <a:rPr lang="ta-IN" sz="1600" dirty="0">
                <a:ea typeface="Times New Roman" panose="02020603050405020304" pitchFamily="18" charset="0"/>
              </a:rPr>
              <a:t>பயனரிடம் ஐந்து முழு எண்களை உள்ளிடச் சொல்லும் ஒரு நிரலை எழுதுங்கள். ஒவ்வொரு முழு எண்ணும் இரட்டை எண்ணா அல்லது ஒற்றை எண்ணா என்பதைக் கூறும் செய்தியை வெளியிடுங்கள்.</a:t>
            </a:r>
            <a:endParaRPr lang="en-GB" sz="1600" dirty="0"/>
          </a:p>
        </p:txBody>
      </p:sp>
      <p:sp>
        <p:nvSpPr>
          <p:cNvPr id="8" name="Google Shape;120;p22">
            <a:extLst>
              <a:ext uri="{FF2B5EF4-FFF2-40B4-BE49-F238E27FC236}">
                <a16:creationId xmlns:a16="http://schemas.microsoft.com/office/drawing/2014/main" id="{B941FB32-83D9-8017-18BF-09C28B502C0E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9807D-D762-7F64-08D7-9F5835545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0" y="2300747"/>
            <a:ext cx="4143953" cy="14895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39A7FF-E100-BE4E-2307-3AF0EA06E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61" y="2445106"/>
            <a:ext cx="1752845" cy="172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51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CF610-0CB6-299D-C86D-8276B6A1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7AFD8-7431-D5BE-EE9C-42F14755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பைத்தானில் ஒரு "லூப்பில்" தேர்வு</a:t>
            </a:r>
            <a:r>
              <a:rPr lang="en-GB" dirty="0"/>
              <a:t> - </a:t>
            </a:r>
            <a:r>
              <a:rPr lang="ta-IN" dirty="0"/>
              <a:t>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3F5E9-D042-2112-ADB4-6C9479A26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2923847"/>
          </a:xfrm>
        </p:spPr>
        <p:txBody>
          <a:bodyPr/>
          <a:lstStyle/>
          <a:p>
            <a:pPr marL="127000" indent="0">
              <a:buNone/>
            </a:pPr>
            <a:r>
              <a:rPr lang="ta-IN" sz="1600" dirty="0">
                <a:ea typeface="Times New Roman" panose="02020603050405020304" pitchFamily="18" charset="0"/>
              </a:rPr>
              <a:t>நீட்டிப்பு:</a:t>
            </a:r>
          </a:p>
          <a:p>
            <a:pPr marL="127000" indent="0">
              <a:buNone/>
            </a:pPr>
            <a:r>
              <a:rPr lang="en-GB" sz="1600" dirty="0" err="1">
                <a:ea typeface="Times New Roman" panose="02020603050405020304" pitchFamily="18" charset="0"/>
              </a:rPr>
              <a:t>Fizzbuzz</a:t>
            </a:r>
            <a:r>
              <a:rPr lang="en-GB" sz="1600" dirty="0">
                <a:ea typeface="Times New Roman" panose="02020603050405020304" pitchFamily="18" charset="0"/>
              </a:rPr>
              <a:t> </a:t>
            </a:r>
            <a:r>
              <a:rPr lang="ta-IN" sz="1600" dirty="0">
                <a:ea typeface="Times New Roman" panose="02020603050405020304" pitchFamily="18" charset="0"/>
              </a:rPr>
              <a:t>என்பது சத்தமாக எண்ணி சில எண்களை மாற்றும் ஒரு விளையாட்டு. எண் 3 ஆல் வகுபடும் என்றால், அதற்கு பதிலாக "</a:t>
            </a:r>
            <a:r>
              <a:rPr lang="en-GB" sz="1600" dirty="0">
                <a:ea typeface="Times New Roman" panose="02020603050405020304" pitchFamily="18" charset="0"/>
              </a:rPr>
              <a:t>Fizz" </a:t>
            </a:r>
            <a:r>
              <a:rPr lang="ta-IN" sz="1600" dirty="0">
                <a:ea typeface="Times New Roman" panose="02020603050405020304" pitchFamily="18" charset="0"/>
              </a:rPr>
              <a:t>என்று சொல்கிறீர்கள், அது 5 ஆல் வகுபடும் என்றால், அதற்கு பதிலாக "</a:t>
            </a:r>
            <a:r>
              <a:rPr lang="en-GB" sz="1600" dirty="0">
                <a:ea typeface="Times New Roman" panose="02020603050405020304" pitchFamily="18" charset="0"/>
              </a:rPr>
              <a:t>Buzz" </a:t>
            </a:r>
            <a:r>
              <a:rPr lang="ta-IN" sz="1600" dirty="0">
                <a:ea typeface="Times New Roman" panose="02020603050405020304" pitchFamily="18" charset="0"/>
              </a:rPr>
              <a:t>என்று சொல்கிறீர்கள், ஆனால் அது 15 ஆல் வகுபடும் என்றால், அதற்கு பதிலாக "</a:t>
            </a:r>
            <a:r>
              <a:rPr lang="en-GB" sz="1600" dirty="0" err="1">
                <a:ea typeface="Times New Roman" panose="02020603050405020304" pitchFamily="18" charset="0"/>
              </a:rPr>
              <a:t>Fizzbuzz</a:t>
            </a:r>
            <a:r>
              <a:rPr lang="en-GB" sz="1600" dirty="0">
                <a:ea typeface="Times New Roman" panose="02020603050405020304" pitchFamily="18" charset="0"/>
              </a:rPr>
              <a:t>" </a:t>
            </a:r>
            <a:r>
              <a:rPr lang="ta-IN" sz="1600" dirty="0">
                <a:ea typeface="Times New Roman" panose="02020603050405020304" pitchFamily="18" charset="0"/>
              </a:rPr>
              <a:t>என்று சொல்கிறீர்கள்.</a:t>
            </a:r>
          </a:p>
          <a:p>
            <a:pPr marL="127000" indent="0">
              <a:buNone/>
            </a:pPr>
            <a:endParaRPr lang="ta-IN" sz="1600" dirty="0">
              <a:ea typeface="Times New Roman" panose="02020603050405020304" pitchFamily="18" charset="0"/>
            </a:endParaRPr>
          </a:p>
          <a:p>
            <a:pPr marL="127000" indent="0">
              <a:buNone/>
            </a:pPr>
            <a:r>
              <a:rPr lang="ta-IN" sz="1600" dirty="0">
                <a:ea typeface="Times New Roman" panose="02020603050405020304" pitchFamily="18" charset="0"/>
              </a:rPr>
              <a:t>1 முதல் 30 வரை எண்ணும் ஒரு நிரலை இந்த வழியில் எழுதுங்கள்.</a:t>
            </a:r>
          </a:p>
          <a:p>
            <a:pPr marL="127000" indent="0">
              <a:buNone/>
            </a:pPr>
            <a:endParaRPr lang="ta-IN" sz="1600" dirty="0">
              <a:ea typeface="Times New Roman" panose="02020603050405020304" pitchFamily="18" charset="0"/>
            </a:endParaRPr>
          </a:p>
          <a:p>
            <a:pPr marL="127000" indent="0">
              <a:buNone/>
            </a:pPr>
            <a:r>
              <a:rPr lang="ta-IN" sz="1600" dirty="0">
                <a:ea typeface="Times New Roman" panose="02020603050405020304" pitchFamily="18" charset="0"/>
              </a:rPr>
              <a:t>இந்த கேள்வியை நாம் எவ்வாறு சமாளிக்க முடியும்?</a:t>
            </a:r>
            <a:endParaRPr lang="en-GB" sz="1600" dirty="0"/>
          </a:p>
          <a:p>
            <a:endParaRPr lang="en-GB" dirty="0"/>
          </a:p>
        </p:txBody>
      </p:sp>
      <p:sp>
        <p:nvSpPr>
          <p:cNvPr id="8" name="Google Shape;120;p22">
            <a:extLst>
              <a:ext uri="{FF2B5EF4-FFF2-40B4-BE49-F238E27FC236}">
                <a16:creationId xmlns:a16="http://schemas.microsoft.com/office/drawing/2014/main" id="{BF7ECA89-C6AF-EDEB-ED99-0C47F109FBB5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6107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E598-8D25-279A-AA57-A60E44A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47303-3E6D-909F-3FD7-081DB9332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பைத்தானில் ஒரு "லூப்பில்" தேர்வு</a:t>
            </a:r>
            <a:r>
              <a:rPr lang="en-GB" dirty="0"/>
              <a:t> - </a:t>
            </a:r>
            <a:r>
              <a:rPr lang="ta-IN" dirty="0"/>
              <a:t>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D64EC-1535-E9FB-E50A-8E1ED29F4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385512"/>
          </a:xfrm>
        </p:spPr>
        <p:txBody>
          <a:bodyPr/>
          <a:lstStyle/>
          <a:p>
            <a:pPr marL="127000" indent="0">
              <a:buNone/>
            </a:pPr>
            <a:r>
              <a:rPr lang="en-GB" sz="1600" dirty="0" err="1"/>
              <a:t>Fizzbuzz</a:t>
            </a:r>
            <a:endParaRPr lang="en-GB" sz="1600" dirty="0"/>
          </a:p>
          <a:p>
            <a:pPr marL="127000" indent="0">
              <a:buNone/>
            </a:pPr>
            <a:r>
              <a:rPr lang="en-GB" sz="1600" dirty="0"/>
              <a:t>1 </a:t>
            </a:r>
            <a:r>
              <a:rPr lang="ta-IN" sz="1600" dirty="0"/>
              <a:t>முதல் 30 வரையிலான எண்களை வெளியிடும் ஒரு சுழற்சியை உருவாக்கவும்</a:t>
            </a:r>
          </a:p>
          <a:p>
            <a:pPr marL="127000" indent="0">
              <a:buNone/>
            </a:pPr>
            <a:r>
              <a:rPr lang="ta-IN" sz="1600" dirty="0"/>
              <a:t>எண்ணை வெளியிடுவதற்கு முன், அது உள்ளதா என சரிபார்க்கவும்:</a:t>
            </a:r>
          </a:p>
          <a:p>
            <a:pPr marL="127000" indent="0">
              <a:buNone/>
            </a:pPr>
            <a:endParaRPr lang="ta-IN" sz="1600" dirty="0"/>
          </a:p>
          <a:p>
            <a:pPr marL="127000" indent="0">
              <a:buNone/>
            </a:pPr>
            <a:r>
              <a:rPr lang="ta-IN" sz="1600" dirty="0"/>
              <a:t>15 ஆல் வகுபடும் - வெளியீடு </a:t>
            </a:r>
            <a:r>
              <a:rPr lang="en-GB" sz="1600" dirty="0" err="1"/>
              <a:t>Fizzbuzz</a:t>
            </a:r>
            <a:endParaRPr lang="en-GB" sz="1600" dirty="0"/>
          </a:p>
          <a:p>
            <a:pPr marL="127000" indent="0">
              <a:buNone/>
            </a:pPr>
            <a:r>
              <a:rPr lang="en-GB" sz="1600" dirty="0"/>
              <a:t>3 </a:t>
            </a:r>
            <a:r>
              <a:rPr lang="ta-IN" sz="1600" dirty="0"/>
              <a:t>ஆல் வகுபடும் - வெளியீடு </a:t>
            </a:r>
            <a:r>
              <a:rPr lang="en-GB" sz="1600" dirty="0"/>
              <a:t>Fizz</a:t>
            </a:r>
          </a:p>
          <a:p>
            <a:pPr marL="127000" indent="0">
              <a:buNone/>
            </a:pPr>
            <a:r>
              <a:rPr lang="en-GB" sz="1600" dirty="0"/>
              <a:t>5 </a:t>
            </a:r>
            <a:r>
              <a:rPr lang="ta-IN" sz="1600" dirty="0"/>
              <a:t>ஆல் வகுபடும் - வெளியீடு </a:t>
            </a:r>
            <a:r>
              <a:rPr lang="en-GB" sz="1600" dirty="0"/>
              <a:t>Buzz</a:t>
            </a:r>
          </a:p>
          <a:p>
            <a:pPr marL="127000" indent="0">
              <a:buNone/>
            </a:pPr>
            <a:endParaRPr lang="en-GB" sz="1600" dirty="0"/>
          </a:p>
          <a:p>
            <a:pPr marL="127000" indent="0">
              <a:buNone/>
            </a:pPr>
            <a:r>
              <a:rPr lang="ta-IN" sz="1600" dirty="0"/>
              <a:t>அவற்றில் எதனாலும் வகுபடவில்லை என்றால், அதை மட்டும் வெளியிடுங்கள்</a:t>
            </a:r>
          </a:p>
          <a:p>
            <a:pPr marL="127000" indent="0">
              <a:buNone/>
            </a:pPr>
            <a:r>
              <a:rPr lang="ta-IN" sz="1600" dirty="0"/>
              <a:t>எண் 15 ஆக இருக்கும்போது இது ஏன் </a:t>
            </a:r>
            <a:r>
              <a:rPr lang="en-GB" sz="1600" dirty="0" err="1"/>
              <a:t>Fizzbuzz</a:t>
            </a:r>
            <a:r>
              <a:rPr lang="en-GB" sz="1600" dirty="0"/>
              <a:t>, Fizz </a:t>
            </a:r>
            <a:r>
              <a:rPr lang="ta-IN" sz="1600" dirty="0"/>
              <a:t>மற்றும் </a:t>
            </a:r>
            <a:r>
              <a:rPr lang="en-GB" sz="1600" dirty="0"/>
              <a:t>Buzz </a:t>
            </a:r>
            <a:r>
              <a:rPr lang="ta-IN" sz="1600" dirty="0"/>
              <a:t>ஐ வெளியிடுவதில்லை?</a:t>
            </a:r>
            <a:endParaRPr lang="en-GB" sz="1600" dirty="0"/>
          </a:p>
        </p:txBody>
      </p:sp>
      <p:sp>
        <p:nvSpPr>
          <p:cNvPr id="8" name="Google Shape;120;p22">
            <a:extLst>
              <a:ext uri="{FF2B5EF4-FFF2-40B4-BE49-F238E27FC236}">
                <a16:creationId xmlns:a16="http://schemas.microsoft.com/office/drawing/2014/main" id="{BCDF7978-D80E-748D-1C3A-B9EC8C990AD5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C0F1C-F655-C92A-C2C8-3F4F8581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634" y="1152474"/>
            <a:ext cx="2505425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98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B2ED8-AD44-A24F-4D07-1DBF6A3D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A352-C6D9-949C-76C9-01FA4551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பைத்தானில் ஒரு "லூப்பில்" தேர்வு</a:t>
            </a:r>
            <a:r>
              <a:rPr lang="en-GB" dirty="0"/>
              <a:t> - </a:t>
            </a:r>
            <a:r>
              <a:rPr lang="ta-IN" dirty="0"/>
              <a:t>பதில்கள்</a:t>
            </a:r>
            <a:endParaRPr lang="en-GB" dirty="0"/>
          </a:p>
        </p:txBody>
      </p:sp>
      <p:sp>
        <p:nvSpPr>
          <p:cNvPr id="8" name="Google Shape;120;p22">
            <a:extLst>
              <a:ext uri="{FF2B5EF4-FFF2-40B4-BE49-F238E27FC236}">
                <a16:creationId xmlns:a16="http://schemas.microsoft.com/office/drawing/2014/main" id="{8415422A-C690-2215-BF7D-770D5F9DBC19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C21B5-1275-50A2-532F-F82211B10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55" y="1225475"/>
            <a:ext cx="2505425" cy="2086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75A9FC-8FA8-F738-55FE-A065BE6795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79"/>
          <a:stretch/>
        </p:blipFill>
        <p:spPr>
          <a:xfrm>
            <a:off x="3346418" y="1225475"/>
            <a:ext cx="762952" cy="25676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12F2A1-CB96-8F6A-1E1D-60C77B3AE7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921"/>
          <a:stretch/>
        </p:blipFill>
        <p:spPr>
          <a:xfrm>
            <a:off x="4462508" y="1225475"/>
            <a:ext cx="762952" cy="257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33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6B3562-B74C-5A6C-FBE3-B42D7E4B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செயல்பாடு 5: எண்ணுதல்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7708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066F-8F46-59DC-1161-F77CBF2A2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75D7-DFB0-45FE-B936-F8DE27A9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எண்ணுதல்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7ED85-3BBA-97D9-F2E4-B154049F4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677078"/>
          </a:xfrm>
        </p:spPr>
        <p:txBody>
          <a:bodyPr/>
          <a:lstStyle/>
          <a:p>
            <a:pPr marL="127000" indent="0">
              <a:buNone/>
            </a:pPr>
            <a:r>
              <a:rPr lang="ta-IN" sz="1600" dirty="0"/>
              <a:t>எத்தனை இரட்டை எண்கள் உள்ளிடப்பட்டன என்பதைக் கணக்கிட்டு வெளியிடும் வகையில் இந்தக் குறியீட்டை எவ்வாறு மாற்றுவது?</a:t>
            </a:r>
            <a:endParaRPr lang="en-GB" sz="1600" dirty="0"/>
          </a:p>
        </p:txBody>
      </p:sp>
      <p:sp>
        <p:nvSpPr>
          <p:cNvPr id="8" name="Google Shape;120;p22">
            <a:extLst>
              <a:ext uri="{FF2B5EF4-FFF2-40B4-BE49-F238E27FC236}">
                <a16:creationId xmlns:a16="http://schemas.microsoft.com/office/drawing/2014/main" id="{E3795016-9680-AE79-5D84-61AB8686B29E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5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8A9227-A29F-AE92-C717-299AD5DEB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01" y="1927195"/>
            <a:ext cx="4143953" cy="1609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E5E4B0-8B72-C636-BFF4-6E0537D4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682" y="1927195"/>
            <a:ext cx="1752845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18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D5DE-022E-0087-218E-71A4084B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252-30E8-A90D-AE94-D89B15B2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எண்ணுதல்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9C2D1-3B34-BE85-3180-8E6D46201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396658" cy="3077735"/>
          </a:xfrm>
        </p:spPr>
        <p:txBody>
          <a:bodyPr/>
          <a:lstStyle/>
          <a:p>
            <a:pPr marL="127000" indent="0">
              <a:buNone/>
            </a:pPr>
            <a:r>
              <a:rPr lang="ta-IN" sz="1600" dirty="0">
                <a:ea typeface="Times New Roman" panose="02020603050405020304" pitchFamily="18" charset="0"/>
              </a:rPr>
              <a:t>நமக்கு ஒரு புதிய மாறி தேவை, அதை சம_எண்ணிக்கை என்று அழைப்போம்.</a:t>
            </a:r>
            <a:endParaRPr lang="en-GB" sz="16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27000" indent="0">
              <a:buNone/>
            </a:pPr>
            <a:r>
              <a:rPr lang="ta-IN" sz="1600" dirty="0">
                <a:ea typeface="Times New Roman" panose="02020603050405020304" pitchFamily="18" charset="0"/>
              </a:rPr>
              <a:t>இந்த குறியீட்டு வரிகள் எங்கு செல்கின்றன?</a:t>
            </a:r>
            <a:r>
              <a:rPr lang="en-GB" sz="1600" dirty="0">
                <a:latin typeface="Arial" panose="020B0604020202020204" pitchFamily="34" charset="0"/>
                <a:ea typeface="Times New Roman" panose="02020603050405020304" pitchFamily="18" charset="0"/>
              </a:rPr>
              <a:t>?</a:t>
            </a:r>
          </a:p>
          <a:p>
            <a:pPr marL="127000" indent="0">
              <a:buNone/>
            </a:pPr>
            <a:endParaRPr lang="en-GB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27000" indent="0">
              <a:buNone/>
            </a:pPr>
            <a:endParaRPr lang="en-GB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27000" indent="0">
              <a:buNone/>
            </a:pPr>
            <a:endParaRPr lang="en-GB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27000" indent="0">
              <a:buNone/>
            </a:pPr>
            <a:endParaRPr lang="en-GB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27000" indent="0">
              <a:buNone/>
            </a:pPr>
            <a:endParaRPr lang="en-GB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27000" indent="0">
              <a:buNone/>
            </a:pPr>
            <a:r>
              <a:rPr lang="ta-IN" dirty="0">
                <a:ea typeface="Times New Roman" panose="02020603050405020304" pitchFamily="18" charset="0"/>
              </a:rPr>
              <a:t>இதை முயற்சிக்கவும்</a:t>
            </a:r>
            <a:endParaRPr lang="en-GB" dirty="0"/>
          </a:p>
        </p:txBody>
      </p:sp>
      <p:sp>
        <p:nvSpPr>
          <p:cNvPr id="8" name="Google Shape;120;p22">
            <a:extLst>
              <a:ext uri="{FF2B5EF4-FFF2-40B4-BE49-F238E27FC236}">
                <a16:creationId xmlns:a16="http://schemas.microsoft.com/office/drawing/2014/main" id="{25819CC7-A100-A18D-077D-696775034BCE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5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CD703-22EA-B1D6-8FC4-9351A5E1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170" y="1152475"/>
            <a:ext cx="4143953" cy="1609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7F41C0-D56F-AE8A-A9B5-E766524839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115" b="76286"/>
          <a:stretch/>
        </p:blipFill>
        <p:spPr>
          <a:xfrm>
            <a:off x="551382" y="2451865"/>
            <a:ext cx="2721208" cy="239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C3692-D2F2-6E34-20C3-C2475EEF25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389"/>
          <a:stretch/>
        </p:blipFill>
        <p:spPr>
          <a:xfrm>
            <a:off x="551382" y="3238841"/>
            <a:ext cx="4544059" cy="299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C6283B-C43F-6A2A-1202-58262489CB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951" r="68534" b="41238"/>
          <a:stretch/>
        </p:blipFill>
        <p:spPr>
          <a:xfrm>
            <a:off x="551382" y="2857214"/>
            <a:ext cx="1429820" cy="23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335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9778-4A51-0094-2861-CB3E2B32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எண்ணுதல் - பதில்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2EF38-9C44-B748-01C5-F086060F6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31437" cy="2646848"/>
          </a:xfrm>
        </p:spPr>
        <p:txBody>
          <a:bodyPr/>
          <a:lstStyle/>
          <a:p>
            <a:r>
              <a:rPr lang="ta-IN" sz="1600" dirty="0"/>
              <a:t>"லூப்" க்கு முன் நாம் </a:t>
            </a:r>
            <a:r>
              <a:rPr lang="en-GB" sz="1600" dirty="0" err="1"/>
              <a:t>even_count</a:t>
            </a:r>
            <a:r>
              <a:rPr lang="en-GB" sz="1600" dirty="0"/>
              <a:t> </a:t>
            </a:r>
            <a:r>
              <a:rPr lang="ta-IN" sz="1600" dirty="0"/>
              <a:t>ஐ துவக்க வேண்டும்</a:t>
            </a:r>
          </a:p>
          <a:p>
            <a:endParaRPr lang="ta-IN" sz="1600" dirty="0"/>
          </a:p>
          <a:p>
            <a:r>
              <a:rPr lang="ta-IN" sz="1600" dirty="0"/>
              <a:t>எண் இரட்டை எண்ணாக இருந்தால் </a:t>
            </a:r>
            <a:r>
              <a:rPr lang="en-GB" sz="1600" dirty="0" err="1"/>
              <a:t>even_count</a:t>
            </a:r>
            <a:r>
              <a:rPr lang="en-GB" sz="1600" dirty="0"/>
              <a:t> </a:t>
            </a:r>
            <a:r>
              <a:rPr lang="ta-IN" sz="1600" dirty="0"/>
              <a:t>ஐ அதிகரிக்க வேண்டும்</a:t>
            </a:r>
          </a:p>
          <a:p>
            <a:endParaRPr lang="ta-IN" sz="1600" dirty="0"/>
          </a:p>
          <a:p>
            <a:r>
              <a:rPr lang="ta-IN" sz="1600" dirty="0"/>
              <a:t>லூப் முடிந்ததும் நாம் பதிலை வெளியிட வேண்டும்.</a:t>
            </a: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B14CA-25C3-6B2F-B245-52E389C25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870" y="102353"/>
            <a:ext cx="4553585" cy="2372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40F472-2BB5-D152-9DAC-E9695B774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870" y="2571750"/>
            <a:ext cx="1907782" cy="16278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F15FC3-068B-A5C4-F548-BF73FFD4A50F}"/>
              </a:ext>
            </a:extLst>
          </p:cNvPr>
          <p:cNvSpPr/>
          <p:nvPr/>
        </p:nvSpPr>
        <p:spPr>
          <a:xfrm>
            <a:off x="4452869" y="2194077"/>
            <a:ext cx="4553585" cy="21600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F15FC3-068B-A5C4-F548-BF73FFD4A50F}"/>
              </a:ext>
            </a:extLst>
          </p:cNvPr>
          <p:cNvSpPr/>
          <p:nvPr/>
        </p:nvSpPr>
        <p:spPr>
          <a:xfrm>
            <a:off x="5235591" y="1241842"/>
            <a:ext cx="2689210" cy="21600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15FC3-068B-A5C4-F548-BF73FFD4A50F}"/>
              </a:ext>
            </a:extLst>
          </p:cNvPr>
          <p:cNvSpPr/>
          <p:nvPr/>
        </p:nvSpPr>
        <p:spPr>
          <a:xfrm>
            <a:off x="4452870" y="96721"/>
            <a:ext cx="1504585" cy="21600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138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04404-6F79-4B54-40C0-A3B8862D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9224CF-ED64-F03A-5B56-54E610D54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செயல்பாடு 6: பூலியன் ஆபரேட்டர்கள்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331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A54196-E5CF-B968-C8A4-41FD7FA41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பூலியன் ஆபரேட்டர்கள்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A3CCA-6BFB-2858-6FC7-CA8CD46E0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</p:spPr>
        <p:txBody>
          <a:bodyPr/>
          <a:lstStyle/>
          <a:p>
            <a:r>
              <a:rPr lang="ta-IN" dirty="0"/>
              <a:t>பூலியன் ஆபரேட்டர்கள் பயிற்சிகளைச் செய்யுங்கள்.</a:t>
            </a:r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C3604874-A38D-52BB-8B00-55DD9FAAF5CB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6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4718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66340-415F-D2F9-E450-22D33FE6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பூலியன் ஆபரேட்டர்கள்</a:t>
            </a:r>
            <a:r>
              <a:rPr lang="en-US" dirty="0"/>
              <a:t>-</a:t>
            </a:r>
            <a:r>
              <a:rPr lang="ta-IN" dirty="0"/>
              <a:t>பதில்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DC78F-99AB-F896-2372-12018820F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3366682" cy="2154406"/>
          </a:xfrm>
        </p:spPr>
        <p:txBody>
          <a:bodyPr/>
          <a:lstStyle/>
          <a:p>
            <a:pPr marL="127000" indent="0">
              <a:buNone/>
            </a:pPr>
            <a:r>
              <a:rPr lang="ta-IN" sz="1600" dirty="0"/>
              <a:t>இதை விளக்க முடியுமா?</a:t>
            </a:r>
          </a:p>
          <a:p>
            <a:pPr marL="127000" indent="0">
              <a:buNone/>
            </a:pPr>
            <a:endParaRPr lang="ta-IN" sz="1600" dirty="0"/>
          </a:p>
          <a:p>
            <a:pPr marL="127000" indent="0">
              <a:buNone/>
            </a:pPr>
            <a:r>
              <a:rPr lang="ta-IN" sz="1600" dirty="0"/>
              <a:t>முழு கூற்றையும் உண்மை என மதிப்பிட, பூலியன் வெளிப்பாட்டின் அனைத்து பகுதிகளும் உண்மை என மதிப்பிட வேண்டும் என்று </a:t>
            </a:r>
            <a:r>
              <a:rPr lang="en-GB" sz="1600" dirty="0"/>
              <a:t>and </a:t>
            </a:r>
            <a:r>
              <a:rPr lang="ta-IN" sz="1600" dirty="0"/>
              <a:t>ஆபரேட்டர் கோருகிறது.</a:t>
            </a:r>
            <a:endParaRPr lang="en-GB" sz="16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B95A0-F039-A892-D696-2C4165C60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515" y="992782"/>
            <a:ext cx="5010785" cy="1181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61FEA-9DA9-D0CD-74E6-5856ED630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318" y="2274317"/>
            <a:ext cx="3334215" cy="5906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6B1039-7CD8-789A-47E6-6A641E2B0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318" y="2951797"/>
            <a:ext cx="3801005" cy="571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F3C52F-E343-282D-FC92-E7365A9BF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318" y="3610225"/>
            <a:ext cx="2962688" cy="581106"/>
          </a:xfrm>
          <a:prstGeom prst="rect">
            <a:avLst/>
          </a:prstGeom>
        </p:spPr>
      </p:pic>
      <p:sp>
        <p:nvSpPr>
          <p:cNvPr id="11" name="Google Shape;120;p22">
            <a:extLst>
              <a:ext uri="{FF2B5EF4-FFF2-40B4-BE49-F238E27FC236}">
                <a16:creationId xmlns:a16="http://schemas.microsoft.com/office/drawing/2014/main" id="{0CEFBC74-38D4-1D5B-DAB8-E4E79A4FAE05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6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7058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704E5-6670-70AA-ADFF-FA868A77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ABBE-8961-C207-0A2C-BB06E7AED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பூலியன் ஆபரேட்டர்கள்</a:t>
            </a:r>
            <a:r>
              <a:rPr lang="en-US" dirty="0"/>
              <a:t>-</a:t>
            </a:r>
            <a:r>
              <a:rPr lang="ta-IN" dirty="0"/>
              <a:t>பதில்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57E2E-9D7D-1325-292A-BDBB2F52C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380536" cy="2985402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இதை விளக்க முடியுமா?</a:t>
            </a:r>
          </a:p>
          <a:p>
            <a:pPr marL="127000" indent="0">
              <a:buNone/>
            </a:pPr>
            <a:endParaRPr lang="ta-IN" dirty="0"/>
          </a:p>
          <a:p>
            <a:pPr marL="127000" indent="0">
              <a:buNone/>
            </a:pPr>
            <a:endParaRPr lang="en-GB" dirty="0"/>
          </a:p>
          <a:p>
            <a:pPr marL="127000" indent="0">
              <a:buNone/>
            </a:pPr>
            <a:r>
              <a:rPr lang="ta-IN" sz="1600" dirty="0"/>
              <a:t>முழு கூற்றையும் உண்மை என மதிப்பிட, பூலியன் வெளிப்பாட்டின் ஏதேனும் ஒன்று அல்லது அதற்கு மேற்பட்ட பகுதிகளை உண்மை என மதிப்பிட வேண்டும் என்று </a:t>
            </a:r>
            <a:r>
              <a:rPr lang="en-GB" sz="1600" dirty="0"/>
              <a:t>or </a:t>
            </a:r>
            <a:r>
              <a:rPr lang="ta-IN" sz="1600" dirty="0"/>
              <a:t>ஆபரேட்டர் கோருகிறது.</a:t>
            </a:r>
            <a:endParaRPr lang="en-GB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7B5D3-3716-DC08-DF1C-BEEE39C91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420" y="2194764"/>
            <a:ext cx="2685734" cy="489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5E9DF4-84AD-77AD-B95B-18D29B655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672" y="2728947"/>
            <a:ext cx="2693633" cy="4976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7A1D97-3407-31C4-C6C6-233230B7C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823" y="3271030"/>
            <a:ext cx="2709432" cy="529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0BEE03-ECD2-EFFB-60D7-42BD38B4F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773" y="3844710"/>
            <a:ext cx="2733130" cy="4423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8F855E-2D21-159C-945D-D544DD2EA3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420" y="1002306"/>
            <a:ext cx="4783757" cy="1126531"/>
          </a:xfrm>
          <a:prstGeom prst="rect">
            <a:avLst/>
          </a:prstGeom>
        </p:spPr>
      </p:pic>
      <p:sp>
        <p:nvSpPr>
          <p:cNvPr id="20" name="Google Shape;120;p22">
            <a:extLst>
              <a:ext uri="{FF2B5EF4-FFF2-40B4-BE49-F238E27FC236}">
                <a16:creationId xmlns:a16="http://schemas.microsoft.com/office/drawing/2014/main" id="{F6C912E1-EF4A-6003-7383-0B1220E4D99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6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0286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AC75-1FAA-F359-6839-62216391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A8F28A-5EE6-DDDC-3E75-D8B8385F8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செயல்பாடு 7: ஒரு சுழற்சியில் பூலியன் ஆபரேட்டர்கள்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5908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0E05-D9BF-7D44-5FC6-024DC1C9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ஒரு சுழற்சியில் பூலியன் ஆபரேட்டர்கள்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66631-9006-D94F-8353-1B2C0284D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a-IN" dirty="0"/>
              <a:t>உங்கள் பணித்தாளில் உள்ள பயிற்சியைச் செய்யுங்கள்.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id="{B0F9B72E-E412-9A36-0553-ECCD49757F6C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7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1330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2CC384-9B03-7375-B17D-91986DDD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sz="2400" dirty="0"/>
              <a:t>ஒரு சுழற்சியில் பூலியன் ஆபரேட்டர்கள் - பதில்</a:t>
            </a:r>
            <a:endParaRPr lang="en-GB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DE29-0AA8-DBDD-31BE-367BC5C8A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2190868" cy="2431405"/>
          </a:xfrm>
        </p:spPr>
        <p:txBody>
          <a:bodyPr/>
          <a:lstStyle/>
          <a:p>
            <a:pPr marL="127000" indent="0">
              <a:buNone/>
            </a:pPr>
            <a:r>
              <a:rPr lang="ta-IN" sz="1600" dirty="0"/>
              <a:t>பூலியன் வெளிப்பாட்டின் வண்ணம் == பகுதியை நீங்கள் எவ்வாறு மீண்டும் செய்ய வேண்டும் என்பதைக் கவனியுங்கள்</a:t>
            </a:r>
            <a:r>
              <a:rPr lang="ta-IN" dirty="0"/>
              <a:t>.</a:t>
            </a:r>
            <a:endParaRPr lang="en-GB" dirty="0"/>
          </a:p>
        </p:txBody>
      </p:sp>
      <p:sp>
        <p:nvSpPr>
          <p:cNvPr id="5" name="Google Shape;120;p22">
            <a:extLst>
              <a:ext uri="{FF2B5EF4-FFF2-40B4-BE49-F238E27FC236}">
                <a16:creationId xmlns:a16="http://schemas.microsoft.com/office/drawing/2014/main" id="{8F3E382E-E341-6E08-4FC8-F95EA73232B5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7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FD62B7-E16F-BC35-A134-5F24CCC43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554" y="1152475"/>
            <a:ext cx="6239746" cy="1514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DFD10A-F372-7CD1-0DA0-BDEE1472C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554" y="2796454"/>
            <a:ext cx="2876951" cy="1162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721EA7-C91A-953C-D092-0C300CA85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427" y="2817509"/>
            <a:ext cx="2838846" cy="118126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8BF3687-FE08-04A1-E635-BCC2A292FBD1}"/>
              </a:ext>
            </a:extLst>
          </p:cNvPr>
          <p:cNvSpPr/>
          <p:nvPr/>
        </p:nvSpPr>
        <p:spPr>
          <a:xfrm>
            <a:off x="3278736" y="1893205"/>
            <a:ext cx="1504585" cy="21600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93E0BE-E68A-DFDC-181D-3102A2DE832D}"/>
              </a:ext>
            </a:extLst>
          </p:cNvPr>
          <p:cNvSpPr/>
          <p:nvPr/>
        </p:nvSpPr>
        <p:spPr>
          <a:xfrm>
            <a:off x="7046688" y="1893205"/>
            <a:ext cx="1704406" cy="21600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2DA22C-4A50-C1D1-0E92-03F21F14BDC2}"/>
              </a:ext>
            </a:extLst>
          </p:cNvPr>
          <p:cNvSpPr/>
          <p:nvPr/>
        </p:nvSpPr>
        <p:spPr>
          <a:xfrm>
            <a:off x="5088121" y="1893205"/>
            <a:ext cx="1555567" cy="216000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8281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/>
        </p:nvSpPr>
        <p:spPr>
          <a:xfrm>
            <a:off x="311700" y="2421732"/>
            <a:ext cx="8699100" cy="158537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53585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rgbClr val="53585F"/>
              </a:solidFill>
            </a:endParaRPr>
          </a:p>
        </p:txBody>
      </p:sp>
      <p:sp>
        <p:nvSpPr>
          <p:cNvPr id="271" name="Google Shape;27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நிறைவு </a:t>
            </a:r>
            <a:endParaRPr dirty="0"/>
          </a:p>
        </p:txBody>
      </p:sp>
      <p:sp>
        <p:nvSpPr>
          <p:cNvPr id="272" name="Google Shape;272;p42"/>
          <p:cNvSpPr txBox="1">
            <a:spLocks noGrp="1"/>
          </p:cNvSpPr>
          <p:nvPr>
            <p:ph type="body" idx="1"/>
          </p:nvPr>
        </p:nvSpPr>
        <p:spPr>
          <a:xfrm>
            <a:off x="311700" y="1173600"/>
            <a:ext cx="8520600" cy="2421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buNone/>
            </a:pPr>
            <a:r>
              <a:rPr lang="ta-IN" sz="1600" dirty="0"/>
              <a:t>லூப்கள் பற்றிய எங்கள் அறிவை நாங்கள் விரிவுபடுத்தியுள்ளோம்:</a:t>
            </a:r>
          </a:p>
          <a:p>
            <a:pPr marL="0" lvl="0" indent="0">
              <a:buNone/>
            </a:pPr>
            <a:r>
              <a:rPr lang="ta-IN" sz="1600" dirty="0"/>
              <a:t>ஒரு லூப்பிற்குள் தேர்வு (</a:t>
            </a:r>
            <a:r>
              <a:rPr lang="en-GB" sz="1600" dirty="0"/>
              <a:t>if-</a:t>
            </a:r>
            <a:r>
              <a:rPr lang="ta-IN" sz="1600" dirty="0"/>
              <a:t>ஸ்டேட்மென்ட்கள்)</a:t>
            </a:r>
          </a:p>
          <a:p>
            <a:pPr marL="0" lvl="0" indent="0">
              <a:buNone/>
            </a:pPr>
            <a:r>
              <a:rPr lang="ta-IN" sz="1600" dirty="0"/>
              <a:t>பூலியன் ஆபரேட்டர்கள்: மற்றும் மற்றும் அல்லது</a:t>
            </a:r>
            <a:endParaRPr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GB" sz="1600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இந்த திட்டம் ஏன்</a:t>
            </a:r>
            <a:endParaRPr lang="en-US" sz="1600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 வேலை </a:t>
            </a:r>
            <a:endParaRPr lang="en-US" sz="1600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செய்யவில்லை?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F12B5-AC26-A235-9901-FE12AB1F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870" y="2512412"/>
            <a:ext cx="6072864" cy="1457487"/>
          </a:xfrm>
          <a:prstGeom prst="rect">
            <a:avLst/>
          </a:prstGeom>
        </p:spPr>
      </p:pic>
      <p:sp>
        <p:nvSpPr>
          <p:cNvPr id="275" name="Google Shape;275;p42"/>
          <p:cNvSpPr/>
          <p:nvPr/>
        </p:nvSpPr>
        <p:spPr>
          <a:xfrm rot="-909444">
            <a:off x="7658971" y="2114046"/>
            <a:ext cx="1365429" cy="722327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EXIT TICKET</a:t>
            </a:r>
            <a:endParaRPr sz="1700" b="1" i="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Ocado New Branding">
      <a:dk1>
        <a:srgbClr val="000000"/>
      </a:dk1>
      <a:lt1>
        <a:srgbClr val="FFFFFF"/>
      </a:lt1>
      <a:dk2>
        <a:srgbClr val="626262"/>
      </a:dk2>
      <a:lt2>
        <a:srgbClr val="DCDEE0"/>
      </a:lt2>
      <a:accent1>
        <a:srgbClr val="D841C3"/>
      </a:accent1>
      <a:accent2>
        <a:srgbClr val="13237A"/>
      </a:accent2>
      <a:accent3>
        <a:srgbClr val="FFCE05"/>
      </a:accent3>
      <a:accent4>
        <a:srgbClr val="2633AB"/>
      </a:accent4>
      <a:accent5>
        <a:srgbClr val="F4D1DC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838</Words>
  <Application>Microsoft Office PowerPoint</Application>
  <PresentationFormat>On-screen Show (16:9)</PresentationFormat>
  <Paragraphs>150</Paragraphs>
  <Slides>37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Consolas</vt:lpstr>
      <vt:lpstr>Space Grotesk Medium</vt:lpstr>
      <vt:lpstr>Helvetica Neue</vt:lpstr>
      <vt:lpstr>Inter</vt:lpstr>
      <vt:lpstr>Arial</vt:lpstr>
      <vt:lpstr>White</vt:lpstr>
      <vt:lpstr>PowerPoint Presentation</vt:lpstr>
      <vt:lpstr>பாடம் ஆரம்பிப்பவர்</vt:lpstr>
      <vt:lpstr>பாடம் ஆரம்பிப்பவர்</vt:lpstr>
      <vt:lpstr>செயல்பாடு 1: பைதான் டெனில் "while loop" இல் தேர்வு செய்தல்</vt:lpstr>
      <vt:lpstr>while loop இல் தேர்வு</vt:lpstr>
      <vt:lpstr>while loop இல் தேர்வு</vt:lpstr>
      <vt:lpstr>"while loop" இல் தேர்வு</vt:lpstr>
      <vt:lpstr>while loop இல் தேர்வு</vt:lpstr>
      <vt:lpstr>while loop இல் தேர்வு</vt:lpstr>
      <vt:lpstr>செயல்பாடு 2: சிறிது நேரத்தில் if..else ஐ ஆராய்தல்.</vt:lpstr>
      <vt:lpstr>if..else</vt:lpstr>
      <vt:lpstr>if..else</vt:lpstr>
      <vt:lpstr>if..else</vt:lpstr>
      <vt:lpstr>if..else</vt:lpstr>
      <vt:lpstr>செயல்பாடு 3: சிறிது நேரத்தில் if..elif..else ஐ ஆராய்தல்.</vt:lpstr>
      <vt:lpstr>சிறிது நேரத்தில் if..elif..else என்பதை ஆராய்தல்.</vt:lpstr>
      <vt:lpstr>Exploring if..elif..else in a while loop</vt:lpstr>
      <vt:lpstr>செயல்பாடு 4: சிறிது நேரத்தில் தேர்வை ஆராய்தல்.</vt:lpstr>
      <vt:lpstr>பைத்தானில் ஒரு "லூப்பில்" தேர்வு</vt:lpstr>
      <vt:lpstr>பை த்தானில் ஒரு "லூப்பில்" தேர்வு - பதில்கள்</vt:lpstr>
      <vt:lpstr>பைத்தானில் ஒரு "லூப்பில்" தேர்வு - பதில்கள்</vt:lpstr>
      <vt:lpstr>பைத்தானில் ஒரு "லூப்பில்" தேர்வு - பதில்கள்</vt:lpstr>
      <vt:lpstr>பைத்தானில் ஒரு "லூப்பில்" தேர்வு - பதில்கள்</vt:lpstr>
      <vt:lpstr>பைத்தானில் ஒரு "லூப்பில்" தேர்வு - பதில்கள்</vt:lpstr>
      <vt:lpstr>பைத்தானில் ஒரு "லூப்பில்" தேர்வு - பதில்கள்</vt:lpstr>
      <vt:lpstr>செயல்பாடு 5: எண்ணுதல்</vt:lpstr>
      <vt:lpstr>எண்ணுதல்</vt:lpstr>
      <vt:lpstr>எண்ணுதல்</vt:lpstr>
      <vt:lpstr>எண்ணுதல் - பதில்</vt:lpstr>
      <vt:lpstr>செயல்பாடு 6: பூலியன் ஆபரேட்டர்கள்</vt:lpstr>
      <vt:lpstr>பூலியன் ஆபரேட்டர்கள்</vt:lpstr>
      <vt:lpstr>பூலியன் ஆபரேட்டர்கள்-பதில்</vt:lpstr>
      <vt:lpstr>பூலியன் ஆபரேட்டர்கள்-பதில்</vt:lpstr>
      <vt:lpstr>செயல்பாடு 7: ஒரு சுழற்சியில் பூலியன் ஆபரேட்டர்கள்</vt:lpstr>
      <vt:lpstr>ஒரு சுழற்சியில் பூலியன் ஆபரேட்டர்கள்</vt:lpstr>
      <vt:lpstr>ஒரு சுழற்சியில் பூலியன் ஆபரேட்டர்கள் - பதில்</vt:lpstr>
      <vt:lpstr>நிறைவு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UZER</dc:creator>
  <cp:lastModifiedBy>yashika R</cp:lastModifiedBy>
  <cp:revision>23</cp:revision>
  <dcterms:modified xsi:type="dcterms:W3CDTF">2025-06-24T09:43:56Z</dcterms:modified>
</cp:coreProperties>
</file>