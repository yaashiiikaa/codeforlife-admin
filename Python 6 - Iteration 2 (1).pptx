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58" r:id="rId4"/>
    <p:sldId id="287" r:id="rId5"/>
    <p:sldId id="259" r:id="rId6"/>
    <p:sldId id="260" r:id="rId7"/>
    <p:sldId id="261" r:id="rId8"/>
    <p:sldId id="262" r:id="rId9"/>
    <p:sldId id="263" r:id="rId10"/>
    <p:sldId id="285" r:id="rId11"/>
    <p:sldId id="264" r:id="rId12"/>
    <p:sldId id="265" r:id="rId13"/>
    <p:sldId id="266" r:id="rId14"/>
    <p:sldId id="286" r:id="rId15"/>
    <p:sldId id="267" r:id="rId16"/>
    <p:sldId id="268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4"/>
      <p:bold r:id="rId35"/>
      <p:italic r:id="rId36"/>
      <p:boldItalic r:id="rId37"/>
    </p:embeddedFont>
    <p:embeddedFont>
      <p:font typeface="Helvetica Neue" panose="020B0604020202020204" charset="0"/>
      <p:regular r:id="rId38"/>
      <p:bold r:id="rId39"/>
      <p:italic r:id="rId40"/>
      <p:boldItalic r:id="rId41"/>
    </p:embeddedFont>
    <p:embeddedFont>
      <p:font typeface="Inter" panose="020B0604020202020204" charset="0"/>
      <p:regular r:id="rId42"/>
      <p:bold r:id="rId43"/>
      <p:italic r:id="rId44"/>
      <p:boldItalic r:id="rId45"/>
    </p:embeddedFont>
    <p:embeddedFont>
      <p:font typeface="Space Grotesk Medium" panose="020B0604020202020204" charset="0"/>
      <p:regular r:id="rId46"/>
      <p:bold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CE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DF0C7AE-1334-419A-946F-E5E88168B178}">
  <a:tblStyle styleId="{ADF0C7AE-1334-419A-946F-E5E88168B1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567" autoAdjust="0"/>
  </p:normalViewPr>
  <p:slideViewPr>
    <p:cSldViewPr snapToGrid="0">
      <p:cViewPr varScale="1">
        <p:scale>
          <a:sx n="35" d="100"/>
          <a:sy n="35" d="100"/>
        </p:scale>
        <p:origin x="1025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7f24edde6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7f24edde6d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971da883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971da88386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971da8838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971da88386_0_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971da8838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971da88386_0_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971da8838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971da88386_0_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971da8838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971da88386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971da88386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971da88386_0_3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971da88386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971da88386_0_4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971da88386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971da88386_0_6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971da88386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971da88386_0_7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971da88386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971da88386_0_8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971da88386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971da88386_0_9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971da88386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971da88386_0_10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971da88386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971da88386_0_2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971da88386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971da88386_0_1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971da88386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971da88386_0_1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971da88386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971da88386_0_1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971da88386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971da88386_0_13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971da88386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971da88386_0_14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971da88386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971da88386_0_15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971da88386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971da88386_0_16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971da88386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971da88386_0_17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line total = total + number must be inside the loop because the value stored in number is replaced on each loop iteration and we need to add each value to the total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971da88386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971da88386_0_17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We don’t know the value of total until the loop has finished and we don’t want to output the running total as we go.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971da88386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971da88386_0_18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971da88386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971da88386_0_19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971da88386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971da88386_0_19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971da88386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971da88386_0_20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971da88386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971da88386_0_2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ta-IN" dirty="0">
                <a:latin typeface="Arial" panose="020B0604020202020204" pitchFamily="34" charset="0"/>
                <a:cs typeface="Arial" panose="020B0604020202020204" pitchFamily="34" charset="0"/>
              </a:rPr>
              <a:t>பிழைகள்: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ta-IN" sz="1100" dirty="0">
                <a:latin typeface="Arial" panose="020B0604020202020204" pitchFamily="34" charset="0"/>
                <a:cs typeface="Arial" panose="020B0604020202020204" pitchFamily="34" charset="0"/>
              </a:rPr>
              <a:t>லூப்பிற்கு முன் எண்ணிக்கை துவக்கப்படவில்லை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total = 0 </a:t>
            </a:r>
            <a:r>
              <a:rPr lang="ta-IN" sz="1100" dirty="0">
                <a:latin typeface="Arial" panose="020B0604020202020204" pitchFamily="34" charset="0"/>
                <a:cs typeface="Arial" panose="020B0604020202020204" pitchFamily="34" charset="0"/>
              </a:rPr>
              <a:t>லூப்பிற்கு முன் வர வேண்டும்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ta-IN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ta-IN" sz="1100" dirty="0">
                <a:latin typeface="Arial" panose="020B0604020202020204" pitchFamily="34" charset="0"/>
                <a:cs typeface="Arial" panose="020B0604020202020204" pitchFamily="34" charset="0"/>
              </a:rPr>
              <a:t>மொத்தத்தில் அதைச் சேர்க்கும் முன் எண்ணை உள்ளிடுமாறு நீங்கள் கேட்க வேண்டும்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count + 1 </a:t>
            </a:r>
            <a:r>
              <a:rPr lang="ta-IN" sz="1100" dirty="0">
                <a:latin typeface="Arial" panose="020B0604020202020204" pitchFamily="34" charset="0"/>
                <a:cs typeface="Arial" panose="020B0604020202020204" pitchFamily="34" charset="0"/>
              </a:rPr>
              <a:t>ஐ மீண்டும் 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count </a:t>
            </a:r>
            <a:r>
              <a:rPr lang="ta-IN" sz="1100" dirty="0">
                <a:latin typeface="Arial" panose="020B0604020202020204" pitchFamily="34" charset="0"/>
                <a:cs typeface="Arial" panose="020B0604020202020204" pitchFamily="34" charset="0"/>
              </a:rPr>
              <a:t>மாறியில் சேமிக்க வேண்டும், அதனால் அது மாறுகிறது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ta-IN" sz="1100" dirty="0">
                <a:latin typeface="Arial" panose="020B0604020202020204" pitchFamily="34" charset="0"/>
                <a:cs typeface="Arial" panose="020B0604020202020204" pitchFamily="34" charset="0"/>
              </a:rPr>
              <a:t>இறுதி அச்சு அறிக்கை எண்ணை அல்ல, மொத்தத்தை </a:t>
            </a:r>
            <a:r>
              <a:rPr lang="ta-IN" dirty="0">
                <a:latin typeface="Arial" panose="020B0604020202020204" pitchFamily="34" charset="0"/>
                <a:cs typeface="Arial" panose="020B0604020202020204" pitchFamily="34" charset="0"/>
              </a:rPr>
              <a:t>வெளியிட வேண்டும்.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for Life">
  <p:cSld name="CUSTOM_7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-25150" y="-31000"/>
            <a:ext cx="9212700" cy="43221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3F3F3"/>
              </a:solidFill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326050" y="317100"/>
            <a:ext cx="7392600" cy="4998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title" idx="2"/>
          </p:nvPr>
        </p:nvSpPr>
        <p:spPr>
          <a:xfrm>
            <a:off x="326050" y="980100"/>
            <a:ext cx="68238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850" tIns="59850" rIns="59850" bIns="5985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"/>
              <a:buFont typeface="Inter"/>
              <a:buNone/>
              <a:defRPr sz="1800" i="0" u="none" strike="noStrike" cap="none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defRPr>
            </a:lvl1pPr>
            <a:lvl2pPr marL="0" marR="0" lvl="1" indent="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520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698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4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4;p30">
            <a:extLst>
              <a:ext uri="{FF2B5EF4-FFF2-40B4-BE49-F238E27FC236}">
                <a16:creationId xmlns:a16="http://schemas.microsoft.com/office/drawing/2014/main" id="{468097D8-751E-A33F-677F-8E45118E9358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3075" y="-33675"/>
            <a:ext cx="9250150" cy="4326951"/>
          </a:xfrm>
          <a:prstGeom prst="rect">
            <a:avLst/>
          </a:prstGeom>
          <a:solidFill>
            <a:srgbClr val="E0004D"/>
          </a:solidFill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1654559" y="1681225"/>
            <a:ext cx="58533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850" tIns="59850" rIns="59850" bIns="598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"/>
              <a:buFont typeface="Space Grotesk Medium"/>
              <a:buNone/>
              <a:defRPr sz="3100" b="1" i="0" u="none" strike="noStrike" cap="none">
                <a:solidFill>
                  <a:srgbClr val="F3F3F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0" marR="0" lvl="1" indent="88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254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431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5207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609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698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 1">
  <p:cSld name="CUSTOM_4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;p33">
            <a:extLst>
              <a:ext uri="{FF2B5EF4-FFF2-40B4-BE49-F238E27FC236}">
                <a16:creationId xmlns:a16="http://schemas.microsoft.com/office/drawing/2014/main" id="{263C5D18-909C-ADDB-DA03-DFE7B547E88F}"/>
              </a:ext>
            </a:extLst>
          </p:cNvPr>
          <p:cNvSpPr/>
          <p:nvPr userDrawn="1"/>
        </p:nvSpPr>
        <p:spPr>
          <a:xfrm>
            <a:off x="-25150" y="-31000"/>
            <a:ext cx="9212700" cy="432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1654559" y="1681225"/>
            <a:ext cx="58533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850" tIns="59850" rIns="59850" bIns="598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"/>
              <a:buFont typeface="Space Grotesk Medium"/>
              <a:buNone/>
              <a:defRPr sz="2700" i="0" u="none" strike="noStrike" cap="none">
                <a:solidFill>
                  <a:srgbClr val="F3F3F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0" marR="0" lvl="1" indent="88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254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431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5207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609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698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 1 1 1">
  <p:cSld name="CUSTOM_4_1_1_1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-25150" y="-31000"/>
            <a:ext cx="9212700" cy="43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4616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800">
                <a:latin typeface="Arial" panose="020B0604020202020204" pitchFamily="34" charset="0"/>
                <a:ea typeface="Inter" panose="020B0604020202020204" charset="0"/>
              </a:defRPr>
            </a:lvl1pPr>
            <a:lvl2pPr marL="914400" lvl="1" indent="-330200" rtl="0">
              <a:spcBef>
                <a:spcPts val="10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10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10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10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10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1000"/>
              </a:spcBef>
              <a:spcAft>
                <a:spcPts val="1000"/>
              </a:spcAft>
              <a:buSzPts val="1600"/>
              <a:buChar char="■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25150" y="-31000"/>
            <a:ext cx="9212700" cy="432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3F3F3"/>
              </a:solidFill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26059" y="317100"/>
            <a:ext cx="58533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850" tIns="59850" rIns="59850" bIns="5985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B3B"/>
              </a:buClr>
              <a:buSzPts val="100"/>
              <a:buFont typeface="Space Grotesk Medium"/>
              <a:buNone/>
              <a:defRPr sz="2700" i="0" u="none" strike="noStrike" cap="none">
                <a:solidFill>
                  <a:srgbClr val="383B3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0" marR="0" lvl="1" indent="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520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698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title" idx="2"/>
          </p:nvPr>
        </p:nvSpPr>
        <p:spPr>
          <a:xfrm>
            <a:off x="326050" y="980100"/>
            <a:ext cx="6823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850" tIns="59850" rIns="59850" bIns="59850" anchor="t" anchorCtr="0">
            <a:noAutofit/>
          </a:bodyPr>
          <a:lstStyle>
            <a:lvl1pPr marL="0" marR="0" lvl="0" indent="-6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00"/>
              <a:buFont typeface="Inter"/>
              <a:buChar char="●"/>
              <a:defRPr sz="2000" i="0" u="none" strike="noStrike" cap="none">
                <a:solidFill>
                  <a:srgbClr val="62626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69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○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■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234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●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○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■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501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●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590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○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679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■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dirty="0"/>
          </a:p>
        </p:txBody>
      </p:sp>
      <p:pic>
        <p:nvPicPr>
          <p:cNvPr id="10" name="Google Shape;10;p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9850" y="4509225"/>
            <a:ext cx="1136748" cy="4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19725" y="1588950"/>
            <a:ext cx="62058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600"/>
              <a:buChar char="●"/>
              <a:defRPr sz="1600">
                <a:solidFill>
                  <a:srgbClr val="626262"/>
                </a:solidFill>
              </a:defRPr>
            </a:lvl1pPr>
            <a:lvl2pPr marL="914400" lvl="1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○"/>
              <a:defRPr sz="1600">
                <a:solidFill>
                  <a:srgbClr val="626262"/>
                </a:solidFill>
              </a:defRPr>
            </a:lvl2pPr>
            <a:lvl3pPr marL="1371600" lvl="2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■"/>
              <a:defRPr sz="1600">
                <a:solidFill>
                  <a:srgbClr val="626262"/>
                </a:solidFill>
              </a:defRPr>
            </a:lvl3pPr>
            <a:lvl4pPr marL="1828800" lvl="3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●"/>
              <a:defRPr sz="1600">
                <a:solidFill>
                  <a:srgbClr val="626262"/>
                </a:solidFill>
              </a:defRPr>
            </a:lvl4pPr>
            <a:lvl5pPr marL="2286000" lvl="4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○"/>
              <a:defRPr sz="1600">
                <a:solidFill>
                  <a:srgbClr val="626262"/>
                </a:solidFill>
              </a:defRPr>
            </a:lvl5pPr>
            <a:lvl6pPr marL="2743200" lvl="5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■"/>
              <a:defRPr sz="1600">
                <a:solidFill>
                  <a:srgbClr val="626262"/>
                </a:solidFill>
              </a:defRPr>
            </a:lvl6pPr>
            <a:lvl7pPr marL="3200400" lvl="6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●"/>
              <a:defRPr sz="1600">
                <a:solidFill>
                  <a:srgbClr val="626262"/>
                </a:solidFill>
              </a:defRPr>
            </a:lvl7pPr>
            <a:lvl8pPr marL="3657600" lvl="7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○"/>
              <a:defRPr sz="1600">
                <a:solidFill>
                  <a:srgbClr val="626262"/>
                </a:solidFill>
              </a:defRPr>
            </a:lvl8pPr>
            <a:lvl9pPr marL="4114800" lvl="8" indent="-3302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626262"/>
              </a:buClr>
              <a:buSzPts val="1600"/>
              <a:buChar char="■"/>
              <a:defRPr sz="1600">
                <a:solidFill>
                  <a:srgbClr val="626262"/>
                </a:solidFill>
              </a:defRPr>
            </a:lvl9pPr>
          </a:lstStyle>
          <a:p>
            <a:endParaRPr dirty="0"/>
          </a:p>
        </p:txBody>
      </p:sp>
      <p:sp>
        <p:nvSpPr>
          <p:cNvPr id="2" name="Google Shape;11;p1">
            <a:extLst>
              <a:ext uri="{FF2B5EF4-FFF2-40B4-BE49-F238E27FC236}">
                <a16:creationId xmlns:a16="http://schemas.microsoft.com/office/drawing/2014/main" id="{41399A82-B33D-057D-1571-53C8C53DCBDB}"/>
              </a:ext>
            </a:extLst>
          </p:cNvPr>
          <p:cNvSpPr txBox="1"/>
          <p:nvPr userDrawn="1"/>
        </p:nvSpPr>
        <p:spPr>
          <a:xfrm>
            <a:off x="3193650" y="4544288"/>
            <a:ext cx="2756700" cy="3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solidFill>
                  <a:srgbClr val="626262"/>
                </a:solidFill>
                <a:latin typeface="Arial"/>
                <a:ea typeface="Arial"/>
                <a:cs typeface="Arial"/>
                <a:sym typeface="Arial"/>
              </a:rPr>
              <a:t>Original Copyright Ocado Group 2024</a:t>
            </a:r>
            <a:endParaRPr sz="500" b="0" i="0" u="none" strike="noStrike" cap="none" dirty="0">
              <a:solidFill>
                <a:srgbClr val="6262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1;p29">
            <a:extLst>
              <a:ext uri="{FF2B5EF4-FFF2-40B4-BE49-F238E27FC236}">
                <a16:creationId xmlns:a16="http://schemas.microsoft.com/office/drawing/2014/main" id="{83A09E5C-366B-D2D8-FD17-244D2D99D4E1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8233816" y="4291101"/>
            <a:ext cx="910172" cy="85240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4" r:id="rId4"/>
    <p:sldLayoutId id="2147483656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lt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53">
          <p15:clr>
            <a:srgbClr val="EA4335"/>
          </p15:clr>
        </p15:guide>
        <p15:guide id="2" orient="horz" pos="67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840350" y="1526250"/>
            <a:ext cx="7293600" cy="20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                  </a:t>
            </a:r>
            <a:r>
              <a:rPr lang="en-US" sz="2800" dirty="0" err="1">
                <a:solidFill>
                  <a:schemeClr val="bg1"/>
                </a:solidFill>
              </a:rPr>
              <a:t>கற்றல்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அமர்வு</a:t>
            </a:r>
            <a:r>
              <a:rPr lang="en-US" sz="2800" dirty="0">
                <a:solidFill>
                  <a:schemeClr val="bg1"/>
                </a:solidFill>
              </a:rPr>
              <a:t> -6</a:t>
            </a:r>
          </a:p>
          <a:p>
            <a:pPr lvl="0" algn="ctr">
              <a:buClr>
                <a:schemeClr val="dk1"/>
              </a:buClr>
              <a:buSzPts val="1100"/>
            </a:pPr>
            <a:r>
              <a:rPr lang="en-US" sz="2800" dirty="0" err="1">
                <a:solidFill>
                  <a:schemeClr val="bg1"/>
                </a:solidFill>
              </a:rPr>
              <a:t>மறுசெய்கை</a:t>
            </a:r>
            <a:r>
              <a:rPr lang="en-US" sz="2800" dirty="0">
                <a:solidFill>
                  <a:schemeClr val="bg1"/>
                </a:solidFill>
              </a:rPr>
              <a:t> பகுதி-2</a:t>
            </a:r>
            <a:endParaRPr sz="2800" dirty="0">
              <a:solidFill>
                <a:schemeClr val="bg1"/>
              </a:solidFill>
              <a:latin typeface="Consolas" panose="020B0609020204030204" pitchFamily="49" charset="0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184731" y="683498"/>
            <a:ext cx="8647569" cy="9951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ta-IN" altLang="en-US" dirty="0">
                <a:solidFill>
                  <a:schemeClr val="tx1"/>
                </a:solidFill>
                <a:cs typeface="Latha" panose="020B0604020202020204" pitchFamily="34" charset="0"/>
              </a:rPr>
              <a:t>இந்தக் கேள்விகளுக்குக் காகிதத்தில் பதிலளிக்கவும</a:t>
            </a:r>
            <a:r>
              <a:rPr lang="en-US" altLang="en-US" dirty="0">
                <a:solidFill>
                  <a:schemeClr val="tx1"/>
                </a:solidFill>
                <a:cs typeface="Latha" panose="020B0604020202020204" pitchFamily="34" charset="0"/>
              </a:rPr>
              <a:t>:</a:t>
            </a:r>
            <a:r>
              <a:rPr lang="ta-IN" altLang="en-US" dirty="0">
                <a:solidFill>
                  <a:schemeClr val="tx1"/>
                </a:solidFill>
                <a:cs typeface="Latha" panose="020B0604020202020204" pitchFamily="34" charset="0"/>
              </a:rPr>
              <a:t>்</a:t>
            </a:r>
            <a:endParaRPr lang="en-US" altLang="en-US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endParaRPr dirty="0"/>
          </a:p>
        </p:txBody>
      </p:sp>
      <p:graphicFrame>
        <p:nvGraphicFramePr>
          <p:cNvPr id="67" name="Google Shape;67;p15"/>
          <p:cNvGraphicFramePr/>
          <p:nvPr>
            <p:extLst>
              <p:ext uri="{D42A27DB-BD31-4B8C-83A1-F6EECF244321}">
                <p14:modId xmlns:p14="http://schemas.microsoft.com/office/powerpoint/2010/main" val="2018341112"/>
              </p:ext>
            </p:extLst>
          </p:nvPr>
        </p:nvGraphicFramePr>
        <p:xfrm>
          <a:off x="327836" y="1117600"/>
          <a:ext cx="8299179" cy="3463636"/>
        </p:xfrm>
        <a:graphic>
          <a:graphicData uri="http://schemas.openxmlformats.org/drawingml/2006/table">
            <a:tbl>
              <a:tblPr>
                <a:noFill/>
                <a:tableStyleId>{ADF0C7AE-1334-419A-946F-E5E88168B178}</a:tableStyleId>
              </a:tblPr>
              <a:tblGrid>
                <a:gridCol w="2848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54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5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3181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ea typeface="Inter" panose="020B0604020202020204" charset="0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a-IN" sz="1400" dirty="0"/>
                        <a:t>மாறுபாடு என்றால் என்ன?</a:t>
                      </a:r>
                      <a:endParaRPr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ea typeface="Inter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a-IN" sz="1400" dirty="0"/>
                        <a:t>பைத்தானில் வட்ட அடைப்புக்குறிகளை எப்போது பயன்படுத்த வேண்டும் என்று உங்களுக்கு எப்படித் தெரியும்?</a:t>
                      </a:r>
                      <a:br>
                        <a:rPr lang="ta-IN" sz="1400" dirty="0"/>
                      </a:br>
                      <a:endParaRPr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ea typeface="Inter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ea typeface="Inter" panose="020B0604020202020204" charset="0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a-IN" sz="1400" dirty="0"/>
                        <a:t>லூப் என்றால் என்ன?</a:t>
                      </a:r>
                      <a:endParaRPr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ea typeface="Inter" panose="020B0604020202020204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181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a-IN" sz="1400" dirty="0"/>
                        <a:t>அதிகரிப்பு என்றால் என்ன</a:t>
                      </a:r>
                      <a:r>
                        <a:rPr lang="en-US" sz="1400" dirty="0"/>
                        <a:t>?</a:t>
                      </a:r>
                      <a:endParaRPr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ea typeface="Inter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a-IN" sz="1400" dirty="0"/>
                        <a:t>பைத்தானில் இன்டென்டேஷனின் தொடர்பு என்ன? </a:t>
                      </a:r>
                      <a:endParaRPr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ea typeface="Inter" panose="020B0604020202020204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a-IN" sz="1400" dirty="0"/>
                        <a:t>பைத்தானில் குறியீட்டை மீண்டும் செய்ய நீங்கள் எந்த முக்கிய வார்த்தையைப் பயன்படுத்துகிறீர்கள்?</a:t>
                      </a:r>
                      <a:br>
                        <a:rPr lang="ta-IN" sz="1400" dirty="0"/>
                      </a:br>
                      <a:endParaRPr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ea typeface="Inter" panose="020B0604020202020204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47608EFB-0C72-4CFF-9F89-B5E4A2497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E92EE2D-A5CC-45B6-A8D0-4F0C428C7E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8613" y="294759"/>
            <a:ext cx="24641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a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பாடம் தொடக்கம்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" name="Google Shape;74;p16"/>
          <p:cNvGraphicFramePr/>
          <p:nvPr>
            <p:extLst>
              <p:ext uri="{D42A27DB-BD31-4B8C-83A1-F6EECF244321}">
                <p14:modId xmlns:p14="http://schemas.microsoft.com/office/powerpoint/2010/main" val="2353711737"/>
              </p:ext>
            </p:extLst>
          </p:nvPr>
        </p:nvGraphicFramePr>
        <p:xfrm>
          <a:off x="309563" y="1403927"/>
          <a:ext cx="8522736" cy="3139380"/>
        </p:xfrm>
        <a:graphic>
          <a:graphicData uri="http://schemas.openxmlformats.org/drawingml/2006/table">
            <a:tbl>
              <a:tblPr>
                <a:noFill/>
                <a:tableStyleId>{ADF0C7AE-1334-419A-946F-E5E88168B178}</a:tableStyleId>
              </a:tblPr>
              <a:tblGrid>
                <a:gridCol w="2840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0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0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8318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நீங்கள் சில தரவை சேமித்து வைத்திருக்கும் நினைவகத்தில் ஒரு இடத்திற்கு பயன்படுத்தப்படும் பெயர், 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e.g. </a:t>
                      </a: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பெயர்</a:t>
                      </a:r>
                      <a:br>
                        <a:rPr lang="ta-IN" sz="1400" dirty="0">
                          <a:latin typeface="Times New Roman" panose="02020603050405020304" pitchFamily="18" charset="0"/>
                        </a:rPr>
                      </a:br>
                      <a:endParaRPr sz="1400" dirty="0">
                        <a:solidFill>
                          <a:srgbClr val="E0004D"/>
                        </a:solidFill>
                        <a:latin typeface="Times New Roman" panose="02020603050405020304" pitchFamily="18" charset="0"/>
                        <a:ea typeface="Source Code Pro" panose="020B0509030403020204" pitchFamily="49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Python, </a:t>
                      </a:r>
                      <a:r>
                        <a:rPr lang="en-US" dirty="0" err="1"/>
                        <a:t>e.g</a:t>
                      </a:r>
                      <a:r>
                        <a:rPr lang="en-US" dirty="0"/>
                        <a:t> </a:t>
                      </a:r>
                      <a:r>
                        <a:rPr lang="ta-IN" dirty="0"/>
                        <a:t>இல் செயல் சொற்களுக்குப் பிறகு சுற்று அடைப்புகளைப் பயன்படுத்தவும். உள்ளீடு () அச்சு ()</a:t>
                      </a:r>
                      <a:br>
                        <a:rPr lang="ta-IN" dirty="0"/>
                      </a:br>
                      <a:endParaRPr sz="1400" dirty="0">
                        <a:solidFill>
                          <a:srgbClr val="E0004D"/>
                        </a:solidFill>
                        <a:latin typeface="Times New Roman" panose="02020603050405020304" pitchFamily="18" charset="0"/>
                        <a:ea typeface="Source Code Pro"/>
                        <a:cs typeface="Times New Roman" panose="02020603050405020304" pitchFamily="18" charset="0"/>
                        <a:sym typeface="Source Code Pr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சில குறியீடுகளை ஒரு குறிப்பிட்ட எண்ணிக்கையிலான முறை மீண்டும் மீண்டும் செய்வதற்கான வழி</a:t>
                      </a:r>
                      <a:br>
                        <a:rPr lang="ta-IN" sz="1400" dirty="0">
                          <a:latin typeface="Times New Roman" panose="02020603050405020304" pitchFamily="18" charset="0"/>
                        </a:rPr>
                      </a:br>
                      <a:endParaRPr sz="1400" dirty="0">
                        <a:solidFill>
                          <a:srgbClr val="E0004D"/>
                        </a:solidFill>
                        <a:latin typeface="Times New Roman" panose="02020603050405020304" pitchFamily="18" charset="0"/>
                        <a:ea typeface="Inter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168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நிரலாக்கத்தில், '1 ஆல் அதிகரிப்பு' என்று பொருள்படும்</a:t>
                      </a:r>
                      <a:br>
                        <a:rPr lang="ta-IN" sz="1400" dirty="0">
                          <a:latin typeface="Times New Roman" panose="02020603050405020304" pitchFamily="18" charset="0"/>
                        </a:rPr>
                      </a:br>
                      <a:endParaRPr sz="1400" dirty="0">
                        <a:solidFill>
                          <a:srgbClr val="E0004D"/>
                        </a:solidFill>
                        <a:latin typeface="Times New Roman" panose="02020603050405020304" pitchFamily="18" charset="0"/>
                        <a:ea typeface="Inter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a-IN" sz="1400" dirty="0">
                          <a:latin typeface="Times New Roman" panose="02020603050405020304" pitchFamily="18" charset="0"/>
                        </a:rPr>
                        <a:t>ஒரு வளையத்துடன், எந்த குறியீட்டின் வரிகளை மீண்டும் மீண்டும் செய்ய வேண்டும் என்பதை இது காட்டுகிறது</a:t>
                      </a:r>
                      <a:br>
                        <a:rPr lang="ta-IN" sz="1400" dirty="0">
                          <a:latin typeface="Times New Roman" panose="02020603050405020304" pitchFamily="18" charset="0"/>
                        </a:rPr>
                      </a:br>
                      <a:endParaRPr sz="1400" dirty="0">
                        <a:solidFill>
                          <a:srgbClr val="E0004D"/>
                        </a:solidFill>
                        <a:latin typeface="Times New Roman" panose="02020603050405020304" pitchFamily="18" charset="0"/>
                        <a:ea typeface="Inter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dirty="0">
                          <a:solidFill>
                            <a:srgbClr val="E0004D"/>
                          </a:solidFill>
                          <a:latin typeface="Times New Roman" panose="02020603050405020304" pitchFamily="18" charset="0"/>
                          <a:ea typeface="Source Code Pro"/>
                          <a:cs typeface="Times New Roman" panose="02020603050405020304" pitchFamily="18" charset="0"/>
                          <a:sym typeface="Source Code Pro"/>
                        </a:rPr>
                        <a:t>while</a:t>
                      </a:r>
                      <a:endParaRPr sz="1400" dirty="0">
                        <a:solidFill>
                          <a:srgbClr val="E0004D"/>
                        </a:solidFill>
                        <a:latin typeface="Times New Roman" panose="02020603050405020304" pitchFamily="18" charset="0"/>
                        <a:ea typeface="Source Code Pro"/>
                        <a:cs typeface="Times New Roman" panose="02020603050405020304" pitchFamily="18" charset="0"/>
                        <a:sym typeface="Source Code Pr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AF11AD4-6DA6-4EC8-92B1-7FB7CD4429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05351" y="227518"/>
            <a:ext cx="8521700" cy="57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a-I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பதில்கள்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9CBE5-ACCF-4BEF-8E79-A12E64312B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5351" y="634071"/>
            <a:ext cx="863715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a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உங்கள் பதில்களைச் சரிபார்த்துச் சரிசெய்கஃ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1A7E76-E60B-4924-9D04-2752019F4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a-I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விசாரணை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159F1B-0A15-4DE3-B6B7-24185FC554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835564" y="1705733"/>
            <a:ext cx="381461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a-IN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Latha" panose="020B0604020202020204" pitchFamily="34" charset="0"/>
              </a:rPr>
              <a:t>விசாரணை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871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70364C-40CC-F60C-73BD-FA9E0D56D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00" y="615185"/>
            <a:ext cx="8675400" cy="34234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5125" y="238375"/>
            <a:ext cx="4978226" cy="124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13550" y="1583575"/>
            <a:ext cx="3029800" cy="1499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E8EE1CD-DA61-4C5E-89CE-6960D700AE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1150" y="546377"/>
            <a:ext cx="28729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ta-IN" sz="1800" b="1" dirty="0"/>
              <a:t>பைத்தானில் லூப்ஸ்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FCBA63-6479-4919-947B-D0B7DDAB77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151" y="1122067"/>
            <a:ext cx="436244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a-IN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அடுத்து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, 0</a:t>
            </a:r>
            <a:r>
              <a:rPr kumimoji="0" lang="ta-IN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 முதல்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10</a:t>
            </a:r>
            <a:r>
              <a:rPr kumimoji="0" lang="ta-IN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 வரை எண்களை வெளியிடும் ஒரு வளையத்தை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  </a:t>
            </a:r>
            <a:r>
              <a:rPr kumimoji="0" lang="ta-IN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எழுதப் போகிறோம்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, </a:t>
            </a:r>
            <a:r>
              <a:rPr kumimoji="0" lang="ta-IN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பின்னர்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'</a:t>
            </a:r>
            <a:r>
              <a:rPr kumimoji="0" lang="ta-IN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முடிந்தது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!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a-IN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Latha" panose="020B0604020202020204" pitchFamily="34" charset="0"/>
              </a:rPr>
              <a:t>நமக்கு உதவ இந்த குறியீட்டை நாம் எவ்வாறு பயன்படுத்தலாம்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13550" y="1583575"/>
            <a:ext cx="3029800" cy="14990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sz="2400" b="1" dirty="0"/>
              <a:t>பைத்தானில் லூப்ஸ்</a:t>
            </a:r>
            <a:endParaRPr dirty="0"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1"/>
          </p:nvPr>
        </p:nvSpPr>
        <p:spPr>
          <a:xfrm>
            <a:off x="311700" y="1484125"/>
            <a:ext cx="4819500" cy="1708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ta-IN" sz="1600" dirty="0"/>
              <a:t>நாம் 0 முதல் 4 வரை எண்ணுகிறோம்</a:t>
            </a:r>
          </a:p>
          <a:p>
            <a:pPr marL="0" lvl="0" indent="0">
              <a:lnSpc>
                <a:spcPct val="150000"/>
              </a:lnSpc>
              <a:buNone/>
            </a:pPr>
            <a:endParaRPr lang="ta-IN" sz="1600" dirty="0"/>
          </a:p>
          <a:p>
            <a:pPr marL="0" lvl="0" indent="0">
              <a:lnSpc>
                <a:spcPct val="150000"/>
              </a:lnSpc>
              <a:buNone/>
            </a:pPr>
            <a:r>
              <a:rPr lang="ta-IN" sz="1600" dirty="0"/>
              <a:t>இந்த குறியீடு மீண்டும் மீண்டும் செய்யப்படுகிறது</a:t>
            </a:r>
            <a:r>
              <a:rPr lang="ta-IN" dirty="0"/>
              <a:t>.</a:t>
            </a:r>
            <a:endParaRPr dirty="0"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5125" y="238375"/>
            <a:ext cx="4978226" cy="124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/>
          <p:nvPr/>
        </p:nvSpPr>
        <p:spPr>
          <a:xfrm>
            <a:off x="5998600" y="2664325"/>
            <a:ext cx="3059700" cy="462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E000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7" name="Google Shape;97;p19"/>
          <p:cNvCxnSpPr>
            <a:cxnSpLocks/>
            <a:endCxn id="96" idx="1"/>
          </p:cNvCxnSpPr>
          <p:nvPr/>
        </p:nvCxnSpPr>
        <p:spPr>
          <a:xfrm>
            <a:off x="2604655" y="2417618"/>
            <a:ext cx="3393945" cy="477857"/>
          </a:xfrm>
          <a:prstGeom prst="straightConnector1">
            <a:avLst/>
          </a:prstGeom>
          <a:noFill/>
          <a:ln w="38100" cap="flat" cmpd="sng">
            <a:solidFill>
              <a:srgbClr val="E0004D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Loops in Python</a:t>
            </a:r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311700" y="1484125"/>
            <a:ext cx="4819500" cy="24365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AutoNum type="arabicPeriod"/>
            </a:pPr>
            <a:r>
              <a:rPr lang="ta-IN" dirty="0"/>
              <a:t>&lt; 4 ஐ &lt;= 10 ஆக மாற்றவும்</a:t>
            </a:r>
            <a:endParaRPr lang="en-US" dirty="0"/>
          </a:p>
          <a:p>
            <a:pPr lvl="0">
              <a:buAutoNum type="arabicPeriod"/>
            </a:pPr>
            <a:endParaRPr lang="en-US" sz="1600" dirty="0"/>
          </a:p>
          <a:p>
            <a:pPr lvl="0">
              <a:buAutoNum type="arabicPeriod"/>
            </a:pPr>
            <a:r>
              <a:rPr lang="ta-IN" sz="1600" dirty="0"/>
              <a:t> வேன் குறியீட்டை அகற்றி, அதை அச்சு (எண்ணிக்கை) உடன் மாற்றவும்.</a:t>
            </a:r>
            <a:r>
              <a:rPr lang="en-GB" dirty="0"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)</a:t>
            </a:r>
            <a:endParaRPr dirty="0">
              <a:latin typeface="Consolas" panose="020B0609020204030204" pitchFamily="49" charset="0"/>
              <a:ea typeface="Source Code Pro"/>
              <a:cs typeface="Source Code Pro"/>
              <a:sym typeface="Source Code Pro"/>
            </a:endParaRPr>
          </a:p>
          <a:p>
            <a:pPr marL="127000" lv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GB" dirty="0"/>
              <a:t>3</a:t>
            </a:r>
            <a:r>
              <a:rPr lang="en-GB" sz="1600" dirty="0"/>
              <a:t>. </a:t>
            </a:r>
            <a:r>
              <a:rPr lang="ta-IN" sz="1600" dirty="0"/>
              <a:t>அச்சு ("முடிந்தது!") எங்கு செல்ல வேண்டும்</a:t>
            </a:r>
            <a:r>
              <a:rPr lang="ta-IN" dirty="0"/>
              <a:t>?</a:t>
            </a:r>
            <a:endParaRPr dirty="0"/>
          </a:p>
        </p:txBody>
      </p:sp>
      <p:pic>
        <p:nvPicPr>
          <p:cNvPr id="104" name="Google Shape;10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89100" y="119100"/>
            <a:ext cx="2863184" cy="149889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/>
          <p:nvPr/>
        </p:nvSpPr>
        <p:spPr>
          <a:xfrm>
            <a:off x="6558344" y="1219408"/>
            <a:ext cx="2493900" cy="398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E000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 rotWithShape="1">
          <a:blip r:embed="rId4">
            <a:alphaModFix/>
          </a:blip>
          <a:srcRect b="24230"/>
          <a:stretch/>
        </p:blipFill>
        <p:spPr>
          <a:xfrm>
            <a:off x="5539625" y="2293747"/>
            <a:ext cx="3028950" cy="1003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p20"/>
          <p:cNvCxnSpPr>
            <a:cxnSpLocks/>
          </p:cNvCxnSpPr>
          <p:nvPr/>
        </p:nvCxnSpPr>
        <p:spPr>
          <a:xfrm>
            <a:off x="3085106" y="1741336"/>
            <a:ext cx="4398769" cy="805639"/>
          </a:xfrm>
          <a:prstGeom prst="straightConnector1">
            <a:avLst/>
          </a:prstGeom>
          <a:noFill/>
          <a:ln w="38100" cap="flat" cmpd="sng">
            <a:solidFill>
              <a:srgbClr val="E0004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" name="Google Shape;108;p20"/>
          <p:cNvCxnSpPr>
            <a:cxnSpLocks/>
          </p:cNvCxnSpPr>
          <p:nvPr/>
        </p:nvCxnSpPr>
        <p:spPr>
          <a:xfrm>
            <a:off x="4993419" y="2571750"/>
            <a:ext cx="972556" cy="368125"/>
          </a:xfrm>
          <a:prstGeom prst="straightConnector1">
            <a:avLst/>
          </a:prstGeom>
          <a:noFill/>
          <a:ln w="38100" cap="flat" cmpd="sng">
            <a:solidFill>
              <a:srgbClr val="E0004D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Loops in Python</a:t>
            </a:r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body" idx="1"/>
          </p:nvPr>
        </p:nvSpPr>
        <p:spPr>
          <a:xfrm>
            <a:off x="311700" y="1484125"/>
            <a:ext cx="4819500" cy="25288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AutoNum type="arabicPeriod"/>
            </a:pPr>
            <a:r>
              <a:rPr lang="ta-IN" dirty="0"/>
              <a:t>&lt; 4 ஐ &lt;= 10 ஆக மாற்றவும்</a:t>
            </a:r>
          </a:p>
          <a:p>
            <a:pPr lvl="0">
              <a:buAutoNum type="arabicPeriod"/>
            </a:pPr>
            <a:endParaRPr lang="ta-IN" dirty="0"/>
          </a:p>
          <a:p>
            <a:pPr lvl="0">
              <a:buAutoNum type="arabicPeriod"/>
            </a:pPr>
            <a:r>
              <a:rPr lang="ta-IN" dirty="0"/>
              <a:t> வேன் குறியீட்டை அகற்றி, அதை அச்சு (எண்ணிக்கை) உடன் மாற்றவும்.</a:t>
            </a:r>
            <a:r>
              <a:rPr lang="ta-IN" dirty="0">
                <a:latin typeface="Consolas" panose="020B0609020204030204" pitchFamily="49" charset="0"/>
                <a:ea typeface="Source Code Pro"/>
                <a:cs typeface="Source Code Pro"/>
                <a:sym typeface="Source Code Pro"/>
              </a:rPr>
              <a:t>)</a:t>
            </a:r>
          </a:p>
          <a:p>
            <a:pPr marL="127000" lvl="0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ta-IN" dirty="0"/>
              <a:t>3. அச்சு ("முடிந்தது!") எங்கு செல்ல வேண்டும்?</a:t>
            </a:r>
          </a:p>
        </p:txBody>
      </p:sp>
      <p:pic>
        <p:nvPicPr>
          <p:cNvPr id="115" name="Google Shape;11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39624" y="119101"/>
            <a:ext cx="3512650" cy="17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/>
          <p:nvPr/>
        </p:nvSpPr>
        <p:spPr>
          <a:xfrm>
            <a:off x="5992625" y="1394875"/>
            <a:ext cx="3059700" cy="462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E000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39625" y="2293751"/>
            <a:ext cx="3028950" cy="1323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21"/>
          <p:cNvCxnSpPr>
            <a:cxnSpLocks/>
          </p:cNvCxnSpPr>
          <p:nvPr/>
        </p:nvCxnSpPr>
        <p:spPr>
          <a:xfrm>
            <a:off x="3151376" y="1717482"/>
            <a:ext cx="4332499" cy="829493"/>
          </a:xfrm>
          <a:prstGeom prst="straightConnector1">
            <a:avLst/>
          </a:prstGeom>
          <a:noFill/>
          <a:ln w="38100" cap="flat" cmpd="sng">
            <a:solidFill>
              <a:srgbClr val="E0004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9" name="Google Shape;119;p21"/>
          <p:cNvCxnSpPr>
            <a:cxnSpLocks/>
          </p:cNvCxnSpPr>
          <p:nvPr/>
        </p:nvCxnSpPr>
        <p:spPr>
          <a:xfrm>
            <a:off x="4993419" y="2571750"/>
            <a:ext cx="972556" cy="368125"/>
          </a:xfrm>
          <a:prstGeom prst="straightConnector1">
            <a:avLst/>
          </a:prstGeom>
          <a:noFill/>
          <a:ln w="38100" cap="flat" cmpd="sng">
            <a:solidFill>
              <a:srgbClr val="E0004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" name="Google Shape;120;p21"/>
          <p:cNvCxnSpPr>
            <a:cxnSpLocks/>
          </p:cNvCxnSpPr>
          <p:nvPr/>
        </p:nvCxnSpPr>
        <p:spPr>
          <a:xfrm flipV="1">
            <a:off x="4993419" y="3430875"/>
            <a:ext cx="481206" cy="186826"/>
          </a:xfrm>
          <a:prstGeom prst="straightConnector1">
            <a:avLst/>
          </a:prstGeom>
          <a:noFill/>
          <a:ln w="38100" cap="flat" cmpd="sng">
            <a:solidFill>
              <a:srgbClr val="E0004D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8A31FC-7D29-9C59-4451-09A9A6FE9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436" y="1505734"/>
            <a:ext cx="7269019" cy="655575"/>
          </a:xfrm>
        </p:spPr>
        <p:txBody>
          <a:bodyPr/>
          <a:lstStyle/>
          <a:p>
            <a:r>
              <a:rPr lang="ta-IN" sz="2400" dirty="0"/>
              <a:t>செயல்பாடு 1: </a:t>
            </a:r>
            <a:r>
              <a:rPr lang="en-GB" sz="2400" dirty="0"/>
              <a:t>while loop </a:t>
            </a:r>
            <a:r>
              <a:rPr lang="ta-IN" sz="2400" dirty="0"/>
              <a:t>ஐஆராய்தல்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566909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sz="2800" b="1" dirty="0"/>
              <a:t>பைத்தானில் லூப்ஸ்</a:t>
            </a:r>
            <a:endParaRPr dirty="0"/>
          </a:p>
        </p:txBody>
      </p:sp>
      <p:sp>
        <p:nvSpPr>
          <p:cNvPr id="126" name="Google Shape;126;p22"/>
          <p:cNvSpPr txBox="1">
            <a:spLocks noGrp="1"/>
          </p:cNvSpPr>
          <p:nvPr>
            <p:ph type="body" idx="1"/>
          </p:nvPr>
        </p:nvSpPr>
        <p:spPr>
          <a:xfrm>
            <a:off x="311700" y="1473779"/>
            <a:ext cx="8520600" cy="17081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ta-IN" sz="1600" dirty="0"/>
              <a:t>உங்கள் முறை! </a:t>
            </a:r>
          </a:p>
          <a:p>
            <a:pPr marL="0" lvl="0" indent="0">
              <a:lnSpc>
                <a:spcPct val="150000"/>
              </a:lnSpc>
              <a:buNone/>
            </a:pPr>
            <a:endParaRPr lang="ta-IN" sz="1600" dirty="0"/>
          </a:p>
          <a:p>
            <a:pPr marL="0" lvl="0" indent="0">
              <a:lnSpc>
                <a:spcPct val="150000"/>
              </a:lnSpc>
              <a:buNone/>
            </a:pPr>
            <a:r>
              <a:rPr lang="ta-IN" sz="1600" dirty="0"/>
              <a:t>செயல்பாடு 1 ஐச் செய்யுங்கள்: உங்கள் பணித்தாளில் உள்ள </a:t>
            </a:r>
            <a:r>
              <a:rPr lang="en-GB" sz="1600" dirty="0"/>
              <a:t>while loop </a:t>
            </a:r>
            <a:r>
              <a:rPr lang="ta-IN" sz="1600" dirty="0"/>
              <a:t>பயிற்சிகளை ஆராய்தல்</a:t>
            </a:r>
            <a:r>
              <a:rPr lang="ta-IN" dirty="0"/>
              <a:t>.</a:t>
            </a:r>
            <a:endParaRPr dirty="0"/>
          </a:p>
        </p:txBody>
      </p:sp>
      <p:pic>
        <p:nvPicPr>
          <p:cNvPr id="127" name="Google Shape;127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87875" y="945419"/>
            <a:ext cx="3028950" cy="13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0;p22">
            <a:extLst>
              <a:ext uri="{FF2B5EF4-FFF2-40B4-BE49-F238E27FC236}">
                <a16:creationId xmlns:a16="http://schemas.microsoft.com/office/drawing/2014/main" id="{AD145A1E-BCF3-BC2B-D8F8-917A8C82A8C6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1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sz="2400" b="1" dirty="0"/>
              <a:t>பைத்தானைப் பயன்படுத்துதல் - தீர்வுகள்</a:t>
            </a:r>
            <a:endParaRPr sz="2400" b="1" dirty="0"/>
          </a:p>
        </p:txBody>
      </p:sp>
      <p:sp>
        <p:nvSpPr>
          <p:cNvPr id="133" name="Google Shape;133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5647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69900" lvl="0" indent="-342900">
              <a:lnSpc>
                <a:spcPct val="150000"/>
              </a:lnSpc>
              <a:buAutoNum type="arabicPeriod"/>
            </a:pPr>
            <a:r>
              <a:rPr lang="ta-IN" sz="1600" dirty="0"/>
              <a:t>1 முதல் 10 வரையிலான </a:t>
            </a:r>
            <a:endParaRPr lang="en-US" sz="1600" dirty="0"/>
          </a:p>
          <a:p>
            <a:pPr marL="127000" lvl="0" indent="0">
              <a:lnSpc>
                <a:spcPct val="150000"/>
              </a:lnSpc>
              <a:buNone/>
            </a:pPr>
            <a:r>
              <a:rPr lang="en-US" sz="1600" dirty="0"/>
              <a:t>     </a:t>
            </a:r>
            <a:r>
              <a:rPr lang="ta-IN" sz="1600" dirty="0"/>
              <a:t>வெளியீட்டு எண்கள்</a:t>
            </a:r>
          </a:p>
          <a:p>
            <a:pPr marL="127000" lvl="0" indent="0">
              <a:lnSpc>
                <a:spcPct val="150000"/>
              </a:lnSpc>
              <a:buNone/>
            </a:pPr>
            <a:endParaRPr lang="ta-IN" sz="1600" dirty="0"/>
          </a:p>
          <a:p>
            <a:pPr marL="127000" lvl="0" indent="0">
              <a:lnSpc>
                <a:spcPct val="150000"/>
              </a:lnSpc>
              <a:buNone/>
            </a:pPr>
            <a:r>
              <a:rPr lang="ta-IN" sz="1600" dirty="0"/>
              <a:t>2. 10 முதல் 20 வரையிலான </a:t>
            </a:r>
            <a:endParaRPr lang="en-US" sz="1600" dirty="0"/>
          </a:p>
          <a:p>
            <a:pPr marL="127000" lvl="0" indent="0">
              <a:lnSpc>
                <a:spcPct val="150000"/>
              </a:lnSpc>
              <a:buNone/>
            </a:pPr>
            <a:r>
              <a:rPr lang="en-US" sz="1600" dirty="0"/>
              <a:t>    </a:t>
            </a:r>
            <a:r>
              <a:rPr lang="ta-IN" sz="1600" dirty="0"/>
              <a:t>வெளியீட்டு எண்கள்</a:t>
            </a:r>
            <a:endParaRPr sz="1600"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dirty="0"/>
          </a:p>
        </p:txBody>
      </p:sp>
      <p:pic>
        <p:nvPicPr>
          <p:cNvPr id="134" name="Google Shape;134;p23"/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242493"/>
            <a:ext cx="3776932" cy="1158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3"/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742639"/>
            <a:ext cx="3891138" cy="11257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0;p22">
            <a:extLst>
              <a:ext uri="{FF2B5EF4-FFF2-40B4-BE49-F238E27FC236}">
                <a16:creationId xmlns:a16="http://schemas.microsoft.com/office/drawing/2014/main" id="{629B4533-1A63-1549-79CD-9CAC88B6FC8E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1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sz="2400" b="1" dirty="0"/>
              <a:t>பைத்தானைப் பயன்படுத்துதல் - தீர்வுகள்</a:t>
            </a:r>
            <a:endParaRPr sz="2400" dirty="0"/>
          </a:p>
        </p:txBody>
      </p:sp>
      <p:sp>
        <p:nvSpPr>
          <p:cNvPr id="141" name="Google Shape;141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934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ta-IN" sz="1600" dirty="0"/>
              <a:t>3. 10 முதல் 20 வரையிலான </a:t>
            </a:r>
            <a:endParaRPr lang="en-US" sz="1600" dirty="0"/>
          </a:p>
          <a:p>
            <a:pPr marL="0" lvl="0" indent="0">
              <a:lnSpc>
                <a:spcPct val="150000"/>
              </a:lnSpc>
              <a:buNone/>
            </a:pPr>
            <a:r>
              <a:rPr lang="ta-IN" sz="1600" dirty="0"/>
              <a:t>வெளியீட்டு எண்கள் இரண்டு </a:t>
            </a:r>
            <a:endParaRPr lang="en-US" sz="1600" dirty="0"/>
          </a:p>
          <a:p>
            <a:pPr marL="0" lvl="0" indent="0">
              <a:lnSpc>
                <a:spcPct val="150000"/>
              </a:lnSpc>
              <a:buNone/>
            </a:pPr>
            <a:r>
              <a:rPr lang="ta-IN" sz="1600" dirty="0"/>
              <a:t>படிகளில்</a:t>
            </a:r>
          </a:p>
          <a:p>
            <a:pPr marL="0" lvl="0" indent="0">
              <a:lnSpc>
                <a:spcPct val="150000"/>
              </a:lnSpc>
              <a:buNone/>
            </a:pPr>
            <a:endParaRPr lang="ta-IN" sz="1600" dirty="0"/>
          </a:p>
          <a:p>
            <a:pPr marL="0" lvl="0" indent="0">
              <a:lnSpc>
                <a:spcPct val="150000"/>
              </a:lnSpc>
              <a:buNone/>
            </a:pPr>
            <a:r>
              <a:rPr lang="ta-IN" sz="1600" dirty="0"/>
              <a:t>4. 100 முதல் 0 வரையிலான </a:t>
            </a:r>
            <a:endParaRPr lang="en-US" sz="1600" dirty="0"/>
          </a:p>
          <a:p>
            <a:pPr marL="0" lvl="0" indent="0">
              <a:lnSpc>
                <a:spcPct val="150000"/>
              </a:lnSpc>
              <a:buNone/>
            </a:pPr>
            <a:r>
              <a:rPr lang="ta-IN" sz="1600" dirty="0"/>
              <a:t>வெளியீட்டு எண்கள் ஐந்து படிகளில்</a:t>
            </a:r>
            <a:endParaRPr sz="1600"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dirty="0"/>
          </a:p>
        </p:txBody>
      </p:sp>
      <p:pic>
        <p:nvPicPr>
          <p:cNvPr id="142" name="Google Shape;142;p24"/>
          <p:cNvPicPr preferRelativeResize="0"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4932" y="1272783"/>
            <a:ext cx="4327368" cy="1120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4"/>
          <p:cNvPicPr preferRelativeResize="0"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4932" y="2771058"/>
            <a:ext cx="4386044" cy="107564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0;p22">
            <a:extLst>
              <a:ext uri="{FF2B5EF4-FFF2-40B4-BE49-F238E27FC236}">
                <a16:creationId xmlns:a16="http://schemas.microsoft.com/office/drawing/2014/main" id="{4690FD62-FB58-CD1F-1B66-D709534BF718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1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F2FDC-9D64-3136-FF5D-8C08BD64A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A78625-047B-1963-8525-A10A6A299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350" y="1404134"/>
            <a:ext cx="5853300" cy="7569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ta-IN" sz="2400" dirty="0"/>
              <a:t>செயல்பாடு 2: </a:t>
            </a:r>
            <a:r>
              <a:rPr lang="en-GB" sz="2400" dirty="0"/>
              <a:t>while loop </a:t>
            </a:r>
            <a:r>
              <a:rPr lang="ta-IN" sz="2400" dirty="0"/>
              <a:t>உடன் உள்ளீடு மற்றும் மொத்தமாக்கல்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14986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மீண்டும் மீண்டும் உள்ளீடு</a:t>
            </a:r>
            <a:endParaRPr dirty="0"/>
          </a:p>
        </p:txBody>
      </p:sp>
      <p:sp>
        <p:nvSpPr>
          <p:cNvPr id="149" name="Google Shape;149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2162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ta-IN" sz="1600" dirty="0"/>
              <a:t>அடுத்து, பயனரை ஐந்து எண்களை உள்ளிடச் சொல்லி, அந்த எண்களின் கூட்டுத்தொகையைக் காட்டும் ஒரு நிரலை எழுதப் போகிறோம்.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ta-IN" sz="1600" dirty="0"/>
              <a:t>இந்தக் குறியீட்டை நமக்கு எவ்வாறு உதவுவது</a:t>
            </a:r>
            <a:r>
              <a:rPr lang="ta-IN" dirty="0"/>
              <a:t>?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lang="en-GB" dirty="0"/>
          </a:p>
          <a:p>
            <a:pPr marL="0" lvl="0" indent="0">
              <a:spcBef>
                <a:spcPts val="1000"/>
              </a:spcBef>
              <a:spcAft>
                <a:spcPts val="1000"/>
              </a:spcAft>
              <a:buNone/>
            </a:pPr>
            <a:r>
              <a:rPr lang="ta-IN" sz="1600" dirty="0"/>
              <a:t>அது ஏற்கனவே என்ன செய்கிறது?</a:t>
            </a:r>
            <a:endParaRPr sz="1600" dirty="0"/>
          </a:p>
        </p:txBody>
      </p:sp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250" y="2623925"/>
            <a:ext cx="2981325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0;p22">
            <a:extLst>
              <a:ext uri="{FF2B5EF4-FFF2-40B4-BE49-F238E27FC236}">
                <a16:creationId xmlns:a16="http://schemas.microsoft.com/office/drawing/2014/main" id="{6EFDDE39-37A3-EBE4-6C78-99AF2429C188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மீண்டும் மீண்டும் உள்ளீடு</a:t>
            </a:r>
            <a:endParaRPr dirty="0"/>
          </a:p>
        </p:txBody>
      </p:sp>
      <p:sp>
        <p:nvSpPr>
          <p:cNvPr id="156" name="Google Shape;156;p26"/>
          <p:cNvSpPr txBox="1">
            <a:spLocks noGrp="1"/>
          </p:cNvSpPr>
          <p:nvPr>
            <p:ph type="body" idx="1"/>
          </p:nvPr>
        </p:nvSpPr>
        <p:spPr>
          <a:xfrm>
            <a:off x="363650" y="1186770"/>
            <a:ext cx="8520600" cy="27699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ta-IN" sz="1600" dirty="0"/>
              <a:t>பயனரை ஐந்து எண்களை உள்ளிட்டு அந்த எண்களின் கூட்டுத்தொகையைக் காட்டச் சொல்லுங்கள்</a:t>
            </a:r>
          </a:p>
          <a:p>
            <a:pPr marL="0" lv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endParaRPr lang="ta-IN" sz="1600" dirty="0"/>
          </a:p>
          <a:p>
            <a:pPr marL="0" lv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ta-IN" sz="1600" dirty="0"/>
              <a:t>இந்தக் குறியீடு ஐந்து முறை மட்டுமே திரும்பத் திரும்ப வரும்</a:t>
            </a:r>
          </a:p>
          <a:p>
            <a:pPr marL="0" lv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endParaRPr lang="ta-IN" sz="1600" dirty="0"/>
          </a:p>
          <a:p>
            <a:pPr marL="0" lv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ta-IN" sz="1600" dirty="0"/>
              <a:t>பயனரிடம் ஒரு முழு எண்ணை உள்ளிடச் சொல்ல வேண்டிய குறியீட்டின் வரி என்ன?</a:t>
            </a:r>
            <a:endParaRPr sz="1600" dirty="0"/>
          </a:p>
        </p:txBody>
      </p:sp>
      <p:pic>
        <p:nvPicPr>
          <p:cNvPr id="157" name="Google Shape;1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2925" y="150400"/>
            <a:ext cx="2981325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மீண்டும் மீண்டும் உள்ளீடு</a:t>
            </a:r>
            <a:endParaRPr dirty="0"/>
          </a:p>
        </p:txBody>
      </p:sp>
      <p:sp>
        <p:nvSpPr>
          <p:cNvPr id="170" name="Google Shape;170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980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ta-IN" sz="1600" dirty="0"/>
              <a:t>பயனரை ஐந்து எண்களை உள்ளிட்டு அந்த எண்களின் கூட்டுத்தொகையைக் காட்டச் சொல்லுங்கள்</a:t>
            </a:r>
          </a:p>
          <a:p>
            <a:pPr marL="0" lv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ta-IN" sz="1600" dirty="0"/>
              <a:t>இந்தக் குறியீடு ஐந்து முறை மட்டுமே திரும்பத் திரும்ப வரும்</a:t>
            </a:r>
          </a:p>
          <a:p>
            <a:pPr marL="0" lv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endParaRPr lang="ta-IN" sz="1600" dirty="0"/>
          </a:p>
          <a:p>
            <a:pPr marL="0" lv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ta-IN" sz="1600" dirty="0"/>
              <a:t>பயனரிடம் ஒரு முழு எண்ணை உள்ளிடச் சொல்ல வேண்டிய குறியீட்டின் வரி என்ன</a:t>
            </a:r>
            <a:r>
              <a:rPr lang="ta-IN" dirty="0"/>
              <a:t>?</a:t>
            </a:r>
          </a:p>
          <a:p>
            <a:pPr marL="0" lvl="0" indent="0">
              <a:spcBef>
                <a:spcPts val="1000"/>
              </a:spcBef>
              <a:spcAft>
                <a:spcPts val="1000"/>
              </a:spcAft>
              <a:buNone/>
            </a:pPr>
            <a:r>
              <a:rPr lang="ta-IN" sz="1600" dirty="0"/>
              <a:t>நமது திட்டத்தில் அது எங்கு செல்ல வேண்டும்?</a:t>
            </a:r>
            <a:endParaRPr sz="1600" dirty="0"/>
          </a:p>
        </p:txBody>
      </p:sp>
      <p:pic>
        <p:nvPicPr>
          <p:cNvPr id="171" name="Google Shape;1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2925" y="150400"/>
            <a:ext cx="298132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221927"/>
            <a:ext cx="531495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மீண்டும் மீண்டும் உள்ளீடு</a:t>
            </a:r>
            <a:endParaRPr dirty="0"/>
          </a:p>
        </p:txBody>
      </p:sp>
      <p:sp>
        <p:nvSpPr>
          <p:cNvPr id="178" name="Google Shape;178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8571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ta-IN" sz="1600" dirty="0"/>
              <a:t>பயனரை ஐந்து எண்களை உள்ளிட்டு அந்த எண்களின் கூட்டுத்தொகையைக் காட்டச் சொல்லுங்கள்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600"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>
              <a:spcBef>
                <a:spcPts val="1000"/>
              </a:spcBef>
              <a:buNone/>
            </a:pPr>
            <a:r>
              <a:rPr lang="ta-IN" sz="1600" dirty="0"/>
              <a:t>உள்ளீட்டு அறிக்கை "லூப்" க்குள் இருக்க வேண்டும்.</a:t>
            </a:r>
          </a:p>
          <a:p>
            <a:pPr marL="0" lvl="0" indent="0">
              <a:spcBef>
                <a:spcPts val="1000"/>
              </a:spcBef>
              <a:buNone/>
            </a:pPr>
            <a:r>
              <a:rPr lang="ta-IN" sz="1600" dirty="0"/>
              <a:t>இதை முயற்சிக்கவும்.</a:t>
            </a:r>
            <a:endParaRPr sz="1600" dirty="0"/>
          </a:p>
        </p:txBody>
      </p:sp>
      <p:pic>
        <p:nvPicPr>
          <p:cNvPr id="179" name="Google Shape;17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250" y="1995054"/>
            <a:ext cx="5772150" cy="114530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0;p22">
            <a:extLst>
              <a:ext uri="{FF2B5EF4-FFF2-40B4-BE49-F238E27FC236}">
                <a16:creationId xmlns:a16="http://schemas.microsoft.com/office/drawing/2014/main" id="{31835A3E-8D0C-BD4C-79F4-FC2890A00215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மீண்டும் மீண்டும் உள்ளீடு</a:t>
            </a:r>
            <a:endParaRPr dirty="0"/>
          </a:p>
        </p:txBody>
      </p:sp>
      <p:sp>
        <p:nvSpPr>
          <p:cNvPr id="185" name="Google Shape;185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8879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ta-IN" sz="1600" dirty="0"/>
              <a:t>பயனரை ஐந்து எண்களை உள்ளிட்டு அந்த எண்களின் கூட்டுத்தொகையைக் காட்டச் சொல்லுங்கள்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>
              <a:spcBef>
                <a:spcPts val="1000"/>
              </a:spcBef>
              <a:buNone/>
            </a:pPr>
            <a:r>
              <a:rPr lang="ta-IN" sz="1600" dirty="0"/>
              <a:t>உள்ளீட்டு எண்களை மொத்தமாகக் கூட்ட குறியீட்டை எவ்வாறு சேர்ப்பது?</a:t>
            </a:r>
          </a:p>
          <a:p>
            <a:pPr marL="0" lvl="0" indent="0">
              <a:spcBef>
                <a:spcPts val="1000"/>
              </a:spcBef>
              <a:buNone/>
            </a:pPr>
            <a:r>
              <a:rPr lang="ta-IN" sz="1600" dirty="0"/>
              <a:t>குறிப்பு: இயங்கும் மொத்தம் என்றால் என்ன?</a:t>
            </a:r>
            <a:endParaRPr sz="1600" dirty="0"/>
          </a:p>
        </p:txBody>
      </p:sp>
      <p:pic>
        <p:nvPicPr>
          <p:cNvPr id="186" name="Google Shape;18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250" y="2068945"/>
            <a:ext cx="5772150" cy="9882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0;p22">
            <a:extLst>
              <a:ext uri="{FF2B5EF4-FFF2-40B4-BE49-F238E27FC236}">
                <a16:creationId xmlns:a16="http://schemas.microsoft.com/office/drawing/2014/main" id="{67DB8C21-9BF2-3A17-EC0F-51744A3A14F8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மீண்டும் மீண்டும் உள்ளீடு</a:t>
            </a:r>
            <a:endParaRPr dirty="0"/>
          </a:p>
        </p:txBody>
      </p:sp>
      <p:sp>
        <p:nvSpPr>
          <p:cNvPr id="192" name="Google Shape;192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033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ta-IN" sz="1600" dirty="0"/>
              <a:t>பயனரை ஐந்து எண்களை உள்ளிட்டு அந்த எண்களின் கூட்டுத்தொகையைக் காட்டச் சொல்லுங்கள்</a:t>
            </a:r>
          </a:p>
          <a:p>
            <a:pPr marL="0" lvl="0" indent="0">
              <a:spcBef>
                <a:spcPts val="1000"/>
              </a:spcBef>
              <a:buNone/>
            </a:pPr>
            <a:endParaRPr lang="ta-IN"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>
              <a:spcBef>
                <a:spcPts val="1000"/>
              </a:spcBef>
              <a:buNone/>
            </a:pPr>
            <a:endParaRPr lang="en-US" sz="1600" dirty="0"/>
          </a:p>
          <a:p>
            <a:pPr marL="0" lvl="0" indent="0">
              <a:spcBef>
                <a:spcPts val="1000"/>
              </a:spcBef>
              <a:buNone/>
            </a:pPr>
            <a:r>
              <a:rPr lang="ta-IN" sz="1600" dirty="0"/>
              <a:t>நாம் தொடங்குவதற்கு முன், மொத்தம் பூஜ்ஜியமாகும்.</a:t>
            </a:r>
            <a:endParaRPr lang="en-US" sz="1600" dirty="0"/>
          </a:p>
          <a:p>
            <a:pPr marL="0" lvl="0" indent="0">
              <a:spcBef>
                <a:spcPts val="1000"/>
              </a:spcBef>
              <a:buNone/>
            </a:pPr>
            <a:r>
              <a:rPr lang="ta-IN" sz="1600" dirty="0"/>
              <a:t> இயங்கும் மொத்தத்தில் உள்ளீட்டு எண்ணைச் சேர்க்க குறியீட்டின் வரி என்ன?</a:t>
            </a:r>
            <a:endParaRPr sz="1600" dirty="0"/>
          </a:p>
        </p:txBody>
      </p:sp>
      <p:pic>
        <p:nvPicPr>
          <p:cNvPr id="193" name="Google Shape;19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250" y="2004291"/>
            <a:ext cx="5648325" cy="10067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0;p22">
            <a:extLst>
              <a:ext uri="{FF2B5EF4-FFF2-40B4-BE49-F238E27FC236}">
                <a16:creationId xmlns:a16="http://schemas.microsoft.com/office/drawing/2014/main" id="{D373933A-2FAD-DF50-236E-026A50900C69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மீண்டும் மீண்டும் உள்ளீடு</a:t>
            </a:r>
            <a:endParaRPr dirty="0"/>
          </a:p>
        </p:txBody>
      </p:sp>
      <p:sp>
        <p:nvSpPr>
          <p:cNvPr id="199" name="Google Shape;199;p32"/>
          <p:cNvSpPr txBox="1">
            <a:spLocks noGrp="1"/>
          </p:cNvSpPr>
          <p:nvPr>
            <p:ph type="body" idx="1"/>
          </p:nvPr>
        </p:nvSpPr>
        <p:spPr>
          <a:xfrm>
            <a:off x="311700" y="1113561"/>
            <a:ext cx="8520600" cy="29546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ta-IN" sz="1600" dirty="0"/>
              <a:t>பயனரை ஐந்து எண்களை உள்ளிட்டு அந்த எண்களின் கூட்டுத்தொகையைக் காட்டச் சொல்லுங்கள்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b="1" dirty="0"/>
          </a:p>
          <a:p>
            <a:pPr marL="0" lvl="0" indent="0">
              <a:buNone/>
            </a:pPr>
            <a:r>
              <a:rPr lang="ta-IN" sz="1600" dirty="0"/>
              <a:t>இந்த வரி எங்கே போகிறது</a:t>
            </a:r>
            <a:r>
              <a:rPr lang="ta-IN" b="1" dirty="0"/>
              <a:t>?</a:t>
            </a:r>
            <a:endParaRPr lang="en-GB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a-IN" sz="1600" dirty="0"/>
              <a:t>இந்த வரி எங்கே போகிறது</a:t>
            </a:r>
            <a:r>
              <a:rPr lang="ta-IN" dirty="0"/>
              <a:t>?</a:t>
            </a:r>
            <a:endParaRPr dirty="0"/>
          </a:p>
        </p:txBody>
      </p:sp>
      <p:pic>
        <p:nvPicPr>
          <p:cNvPr id="200" name="Google Shape;20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250" y="2068945"/>
            <a:ext cx="5648325" cy="883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610025"/>
            <a:ext cx="31623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0;p22">
            <a:extLst>
              <a:ext uri="{FF2B5EF4-FFF2-40B4-BE49-F238E27FC236}">
                <a16:creationId xmlns:a16="http://schemas.microsoft.com/office/drawing/2014/main" id="{8BC1DCB4-9338-26D9-A573-BFA7BE08F64A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மீண்டும் மீண்டும் உள்ளீடு</a:t>
            </a:r>
            <a:endParaRPr dirty="0"/>
          </a:p>
        </p:txBody>
      </p:sp>
      <p:sp>
        <p:nvSpPr>
          <p:cNvPr id="207" name="Google Shape;207;p33"/>
          <p:cNvSpPr txBox="1">
            <a:spLocks noGrp="1"/>
          </p:cNvSpPr>
          <p:nvPr>
            <p:ph type="body" idx="1"/>
          </p:nvPr>
        </p:nvSpPr>
        <p:spPr>
          <a:xfrm>
            <a:off x="203200" y="1173558"/>
            <a:ext cx="8765127" cy="26417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ta-IN" sz="1600" dirty="0"/>
              <a:t>பயனரை ஐந்து எண்களை உள்ளிட்டு அந்த எண்களின் கூட்டுத்தொகையைக் காட்டச் சொல்லுங்கள்</a:t>
            </a:r>
            <a:endParaRPr lang="en-US" sz="16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600"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>
              <a:spcBef>
                <a:spcPts val="1000"/>
              </a:spcBef>
              <a:buNone/>
            </a:pPr>
            <a:r>
              <a:rPr lang="ta-IN" sz="1600" dirty="0"/>
              <a:t>உள்ளீட்டு அறிக்கைக்குப் பிறகு, அது வளையத்திற்குள் செல்ல வேண்டும்.</a:t>
            </a:r>
            <a:endParaRPr sz="1600" dirty="0"/>
          </a:p>
        </p:txBody>
      </p:sp>
      <p:pic>
        <p:nvPicPr>
          <p:cNvPr id="208" name="Google Shape;20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63" y="1828800"/>
            <a:ext cx="5743575" cy="136698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0;p22">
            <a:extLst>
              <a:ext uri="{FF2B5EF4-FFF2-40B4-BE49-F238E27FC236}">
                <a16:creationId xmlns:a16="http://schemas.microsoft.com/office/drawing/2014/main" id="{71D37076-9CBE-5954-A50B-8347CEA01B33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F15FC3-068B-A5C4-F548-BF73FFD4A50F}"/>
              </a:ext>
            </a:extLst>
          </p:cNvPr>
          <p:cNvSpPr/>
          <p:nvPr/>
        </p:nvSpPr>
        <p:spPr>
          <a:xfrm>
            <a:off x="898497" y="2571750"/>
            <a:ext cx="3148717" cy="250963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Repeating Input</a:t>
            </a:r>
            <a:endParaRPr/>
          </a:p>
        </p:txBody>
      </p:sp>
      <p:sp>
        <p:nvSpPr>
          <p:cNvPr id="214" name="Google Shape;214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9187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ta-IN" sz="1600" dirty="0"/>
              <a:t>பயனரை ஐந்து எண்களை உள்ளிட்டு அந்த எண்களின் கூட்டுத்தொகையைக் காட்டச் சொல்லுங்கள்</a:t>
            </a:r>
            <a:endParaRPr lang="en-US" sz="16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>
              <a:buNone/>
            </a:pPr>
            <a:endParaRPr lang="en-US" sz="1600" dirty="0"/>
          </a:p>
          <a:p>
            <a:pPr marL="0" lvl="0" indent="0">
              <a:buNone/>
            </a:pPr>
            <a:r>
              <a:rPr lang="ta-IN" sz="1600" dirty="0"/>
              <a:t>இந்த வரி எங்கே போகிறது</a:t>
            </a:r>
            <a:r>
              <a:rPr lang="ta-IN" sz="1600" b="1" dirty="0"/>
              <a:t>?</a:t>
            </a:r>
            <a:endParaRPr lang="en-GB" sz="1600" b="1"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dirty="0"/>
          </a:p>
        </p:txBody>
      </p:sp>
      <p:pic>
        <p:nvPicPr>
          <p:cNvPr id="215" name="Google Shape;21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63" y="1828800"/>
            <a:ext cx="5743575" cy="1283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063" y="3584968"/>
            <a:ext cx="37909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0;p22">
            <a:extLst>
              <a:ext uri="{FF2B5EF4-FFF2-40B4-BE49-F238E27FC236}">
                <a16:creationId xmlns:a16="http://schemas.microsoft.com/office/drawing/2014/main" id="{A49C242D-352D-3FD9-38E3-530FC9276E87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மீண்டும் மீண்டும் உள்ளீடு</a:t>
            </a:r>
            <a:endParaRPr dirty="0"/>
          </a:p>
        </p:txBody>
      </p:sp>
      <p:sp>
        <p:nvSpPr>
          <p:cNvPr id="222" name="Google Shape;222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085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ta-IN" sz="1600" dirty="0"/>
              <a:t>பயனரை ஐந்து எண்களை உள்ளிட்டு அந்த எண்களின் கூட்டுத்தொகையைக் காட்டச் சொல்லுங்கள்</a:t>
            </a:r>
            <a:endParaRPr lang="en-US" sz="16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>
              <a:spcBef>
                <a:spcPts val="1000"/>
              </a:spcBef>
              <a:buNone/>
            </a:pPr>
            <a:r>
              <a:rPr lang="ta-IN" sz="1600" dirty="0"/>
              <a:t>அது "சுழலுக்கு" வெளியே செல்ல வேண்டும்.</a:t>
            </a:r>
          </a:p>
          <a:p>
            <a:pPr marL="0" lvl="0" indent="0">
              <a:spcBef>
                <a:spcPts val="1000"/>
              </a:spcBef>
              <a:buNone/>
            </a:pPr>
            <a:r>
              <a:rPr lang="ta-IN" sz="1600" dirty="0"/>
              <a:t>ஏன்?</a:t>
            </a:r>
            <a:endParaRPr sz="1600" dirty="0"/>
          </a:p>
        </p:txBody>
      </p:sp>
      <p:pic>
        <p:nvPicPr>
          <p:cNvPr id="223" name="Google Shape;22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250" y="1745673"/>
            <a:ext cx="5638800" cy="16232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0;p22">
            <a:extLst>
              <a:ext uri="{FF2B5EF4-FFF2-40B4-BE49-F238E27FC236}">
                <a16:creationId xmlns:a16="http://schemas.microsoft.com/office/drawing/2014/main" id="{CF9201C6-3BAB-0EE0-5829-E822C7DF5D33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56F3A5-359A-A435-89F5-7DD759EC9550}"/>
              </a:ext>
            </a:extLst>
          </p:cNvPr>
          <p:cNvSpPr/>
          <p:nvPr/>
        </p:nvSpPr>
        <p:spPr>
          <a:xfrm>
            <a:off x="402250" y="3117912"/>
            <a:ext cx="3835795" cy="250963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பிழை எடுத்துக்காட்டு 1</a:t>
            </a:r>
            <a:endParaRPr dirty="0"/>
          </a:p>
        </p:txBody>
      </p:sp>
      <p:sp>
        <p:nvSpPr>
          <p:cNvPr id="229" name="Google Shape;229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5590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spcAft>
                <a:spcPts val="1000"/>
              </a:spcAft>
              <a:buNone/>
            </a:pPr>
            <a:r>
              <a:rPr lang="ta-IN" sz="1600" dirty="0"/>
              <a:t>இது ஏன் தவறு?</a:t>
            </a:r>
            <a:endParaRPr sz="1600" dirty="0"/>
          </a:p>
        </p:txBody>
      </p:sp>
      <p:pic>
        <p:nvPicPr>
          <p:cNvPr id="230" name="Google Shape;23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50" y="1583575"/>
            <a:ext cx="56769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5700" y="1583575"/>
            <a:ext cx="2136641" cy="144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0;p22">
            <a:extLst>
              <a:ext uri="{FF2B5EF4-FFF2-40B4-BE49-F238E27FC236}">
                <a16:creationId xmlns:a16="http://schemas.microsoft.com/office/drawing/2014/main" id="{AD101AF5-BDCD-908D-101E-6CD35EDC3754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பிழை எடுத்துக்காட்டு </a:t>
            </a:r>
            <a:r>
              <a:rPr lang="en-GB" dirty="0"/>
              <a:t> 2</a:t>
            </a:r>
            <a:endParaRPr dirty="0"/>
          </a:p>
        </p:txBody>
      </p:sp>
      <p:sp>
        <p:nvSpPr>
          <p:cNvPr id="237" name="Google Shape;237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5590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spcAft>
                <a:spcPts val="1000"/>
              </a:spcAft>
              <a:buNone/>
            </a:pPr>
            <a:r>
              <a:rPr lang="ta-IN" sz="1600" dirty="0"/>
              <a:t>இது ஏன் தவறு?</a:t>
            </a:r>
            <a:endParaRPr sz="1600" dirty="0"/>
          </a:p>
        </p:txBody>
      </p:sp>
      <p:pic>
        <p:nvPicPr>
          <p:cNvPr id="238" name="Google Shape;238;p37"/>
          <p:cNvPicPr preferRelativeResize="0"/>
          <p:nvPr/>
        </p:nvPicPr>
        <p:blipFill rotWithShape="1">
          <a:blip r:embed="rId3">
            <a:alphaModFix/>
          </a:blip>
          <a:srcRect t="14953"/>
          <a:stretch/>
        </p:blipFill>
        <p:spPr>
          <a:xfrm>
            <a:off x="426400" y="1584968"/>
            <a:ext cx="5619750" cy="1846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8350" y="1583575"/>
            <a:ext cx="2476500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0;p22">
            <a:extLst>
              <a:ext uri="{FF2B5EF4-FFF2-40B4-BE49-F238E27FC236}">
                <a16:creationId xmlns:a16="http://schemas.microsoft.com/office/drawing/2014/main" id="{7DC64500-D289-19D5-7036-EDFB9BD8A93F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பயிற்சிகள்</a:t>
            </a:r>
            <a:endParaRPr dirty="0"/>
          </a:p>
        </p:txBody>
      </p:sp>
      <p:sp>
        <p:nvSpPr>
          <p:cNvPr id="245" name="Google Shape;245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9232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ta-IN" sz="1600" dirty="0"/>
              <a:t>உங்கள் முறை!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ta-IN" sz="1600" dirty="0"/>
              <a:t>லூப் பயிற்சிகளுடன் மீண்டும் மீண்டும் உள்ளீடு செய்யவும்.</a:t>
            </a:r>
            <a:endParaRPr sz="1600" dirty="0"/>
          </a:p>
        </p:txBody>
      </p:sp>
      <p:sp>
        <p:nvSpPr>
          <p:cNvPr id="3" name="Google Shape;120;p22">
            <a:extLst>
              <a:ext uri="{FF2B5EF4-FFF2-40B4-BE49-F238E27FC236}">
                <a16:creationId xmlns:a16="http://schemas.microsoft.com/office/drawing/2014/main" id="{BA9D9F09-BE02-4E28-CB3A-645D8DFFFE91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மீண்டும் மீண்டும் உள்ளீடு - தீர்வுகள்</a:t>
            </a:r>
            <a:endParaRPr dirty="0"/>
          </a:p>
        </p:txBody>
      </p:sp>
      <p:sp>
        <p:nvSpPr>
          <p:cNvPr id="251" name="Google Shape;251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0977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GB" b="1" dirty="0"/>
              <a:t>1</a:t>
            </a:r>
            <a:r>
              <a:rPr lang="en-GB" sz="1600" dirty="0"/>
              <a:t>. </a:t>
            </a:r>
            <a:r>
              <a:rPr lang="ta-IN" sz="1600" dirty="0"/>
              <a:t>பயனரை ஐந்து மிதக்கும் புள்ளி எண்களை உள்ளிட்டு அவற்றின் மொத்தத்தை வெளியிடச் சொல்லுங்கள்.</a:t>
            </a:r>
            <a:endParaRPr sz="1600" dirty="0"/>
          </a:p>
        </p:txBody>
      </p:sp>
      <p:pic>
        <p:nvPicPr>
          <p:cNvPr id="252" name="Google Shape;25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250" y="2041236"/>
            <a:ext cx="5943600" cy="181032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0;p22">
            <a:extLst>
              <a:ext uri="{FF2B5EF4-FFF2-40B4-BE49-F238E27FC236}">
                <a16:creationId xmlns:a16="http://schemas.microsoft.com/office/drawing/2014/main" id="{1276D8B8-917E-4B2A-F56F-3626300856AD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மீண்டும் மீண்டும் உள்ளீடு - தீர்வுகள்</a:t>
            </a:r>
            <a:endParaRPr dirty="0"/>
          </a:p>
        </p:txBody>
      </p:sp>
      <p:sp>
        <p:nvSpPr>
          <p:cNvPr id="258" name="Google Shape;258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5898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spcAft>
                <a:spcPts val="1000"/>
              </a:spcAft>
              <a:buNone/>
            </a:pPr>
            <a:r>
              <a:rPr lang="en-GB" b="1" dirty="0"/>
              <a:t>2. </a:t>
            </a:r>
            <a:r>
              <a:rPr lang="ta-IN" sz="1600" dirty="0"/>
              <a:t>பயனரிடம் 10 நாடுகளின் பெயர்களை உள்ளிடச் சொல்லுங்கள்.</a:t>
            </a:r>
            <a:endParaRPr sz="1600" dirty="0"/>
          </a:p>
        </p:txBody>
      </p:sp>
      <p:pic>
        <p:nvPicPr>
          <p:cNvPr id="259" name="Google Shape;25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250" y="1742349"/>
            <a:ext cx="6915150" cy="118557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0;p22">
            <a:extLst>
              <a:ext uri="{FF2B5EF4-FFF2-40B4-BE49-F238E27FC236}">
                <a16:creationId xmlns:a16="http://schemas.microsoft.com/office/drawing/2014/main" id="{394B6577-BE7D-B641-3513-6DC20BA2F6E9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மீண்டும் மீண்டும் உள்ளீடு - தீர்வுகள்</a:t>
            </a:r>
            <a:endParaRPr dirty="0"/>
          </a:p>
        </p:txBody>
      </p:sp>
      <p:sp>
        <p:nvSpPr>
          <p:cNvPr id="265" name="Google Shape;265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0977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ta-IN" sz="1600" b="1" dirty="0"/>
              <a:t>நீட்டிப்பு: அவர்கள் “பிரான்ஸ்” என உள்ளிட்டால் “போன்ஜர்!” என்று வெளியிடவும்</a:t>
            </a:r>
            <a:r>
              <a:rPr lang="ta-IN" b="1" dirty="0"/>
              <a:t>.</a:t>
            </a:r>
            <a:endParaRPr b="1" dirty="0"/>
          </a:p>
        </p:txBody>
      </p:sp>
      <p:pic>
        <p:nvPicPr>
          <p:cNvPr id="266" name="Google Shape;26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50" y="2059709"/>
            <a:ext cx="6905625" cy="154247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0;p22">
            <a:extLst>
              <a:ext uri="{FF2B5EF4-FFF2-40B4-BE49-F238E27FC236}">
                <a16:creationId xmlns:a16="http://schemas.microsoft.com/office/drawing/2014/main" id="{EF9DF7E4-2A8A-E585-26FD-2CB811E87AD6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நிறைவு </a:t>
            </a:r>
            <a:endParaRPr dirty="0"/>
          </a:p>
        </p:txBody>
      </p:sp>
      <p:sp>
        <p:nvSpPr>
          <p:cNvPr id="272" name="Google Shape;272;p42"/>
          <p:cNvSpPr txBox="1">
            <a:spLocks noGrp="1"/>
          </p:cNvSpPr>
          <p:nvPr>
            <p:ph type="body" idx="1"/>
          </p:nvPr>
        </p:nvSpPr>
        <p:spPr>
          <a:xfrm>
            <a:off x="311700" y="1173600"/>
            <a:ext cx="8520600" cy="28571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buNone/>
            </a:pPr>
            <a:r>
              <a:rPr lang="ta-IN" sz="1600" dirty="0"/>
              <a:t>சுழல்கள் பற்றிய எங்கள் அறிவை நாங்கள் விரிவுபடுத்தியுள்ளோம்:</a:t>
            </a:r>
          </a:p>
          <a:p>
            <a:pPr marL="0" lvl="0" indent="0">
              <a:buNone/>
            </a:pPr>
            <a:r>
              <a:rPr lang="ta-IN" sz="1600" dirty="0"/>
              <a:t>எண்ணப்பட்ட சுழல்கள்</a:t>
            </a:r>
          </a:p>
          <a:p>
            <a:pPr marL="0" lvl="0" indent="0">
              <a:buNone/>
            </a:pPr>
            <a:r>
              <a:rPr lang="ta-IN" sz="1600" dirty="0"/>
              <a:t>மீண்டும் மீண்டும் உள்ளீடு</a:t>
            </a:r>
            <a:endParaRPr sz="16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>
              <a:spcBef>
                <a:spcPts val="1000"/>
              </a:spcBef>
              <a:buNone/>
            </a:pPr>
            <a:r>
              <a:rPr lang="ta-IN" sz="1600" dirty="0"/>
              <a:t>இந்த நிரல் பயனரை ஐந்து முழு எண்களை </a:t>
            </a:r>
            <a:endParaRPr lang="en-US" sz="1600" dirty="0"/>
          </a:p>
          <a:p>
            <a:pPr marL="0" lvl="0" indent="0">
              <a:spcBef>
                <a:spcPts val="1000"/>
              </a:spcBef>
              <a:buNone/>
            </a:pPr>
            <a:r>
              <a:rPr lang="ta-IN" sz="1600" dirty="0"/>
              <a:t>உள்ளிட்டு மொத்தத்தை வெளியிடச் சொல்ல </a:t>
            </a:r>
            <a:endParaRPr lang="en-US" sz="1600" dirty="0"/>
          </a:p>
          <a:p>
            <a:pPr marL="0" lvl="0" indent="0">
              <a:spcBef>
                <a:spcPts val="1000"/>
              </a:spcBef>
              <a:buNone/>
            </a:pPr>
            <a:r>
              <a:rPr lang="ta-IN" sz="1600" dirty="0"/>
              <a:t>வேண்டும்.</a:t>
            </a:r>
          </a:p>
          <a:p>
            <a:pPr marL="0" lvl="0" indent="0">
              <a:spcBef>
                <a:spcPts val="1000"/>
              </a:spcBef>
              <a:buNone/>
            </a:pPr>
            <a:r>
              <a:rPr lang="ta-IN" sz="1600" dirty="0"/>
              <a:t>ஐந்து பிழைகளைக் கண்டுபிடிக்க முடியுமா?</a:t>
            </a:r>
            <a:endParaRPr sz="1600" dirty="0"/>
          </a:p>
        </p:txBody>
      </p:sp>
      <p:pic>
        <p:nvPicPr>
          <p:cNvPr id="273" name="Google Shape;27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7455" y="2521625"/>
            <a:ext cx="2874845" cy="15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42"/>
          <p:cNvSpPr/>
          <p:nvPr/>
        </p:nvSpPr>
        <p:spPr>
          <a:xfrm rot="-909444">
            <a:off x="7474385" y="1572812"/>
            <a:ext cx="1558105" cy="1140636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EXIT TICKET</a:t>
            </a:r>
            <a:endParaRPr sz="1700" b="1" i="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Inter"/>
              <a:cs typeface="Arial" panose="020B0604020202020204" pitchFamily="34" charset="0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Ocado New Branding">
      <a:dk1>
        <a:srgbClr val="000000"/>
      </a:dk1>
      <a:lt1>
        <a:srgbClr val="FFFFFF"/>
      </a:lt1>
      <a:dk2>
        <a:srgbClr val="626262"/>
      </a:dk2>
      <a:lt2>
        <a:srgbClr val="DCDEE0"/>
      </a:lt2>
      <a:accent1>
        <a:srgbClr val="D841C3"/>
      </a:accent1>
      <a:accent2>
        <a:srgbClr val="13237A"/>
      </a:accent2>
      <a:accent3>
        <a:srgbClr val="FFCE05"/>
      </a:accent3>
      <a:accent4>
        <a:srgbClr val="2633AB"/>
      </a:accent4>
      <a:accent5>
        <a:srgbClr val="F4D1DC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810</Words>
  <Application>Microsoft Office PowerPoint</Application>
  <PresentationFormat>On-screen Show (16:9)</PresentationFormat>
  <Paragraphs>178</Paragraphs>
  <Slides>31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Space Grotesk Medium</vt:lpstr>
      <vt:lpstr>Times New Roman</vt:lpstr>
      <vt:lpstr>Inter</vt:lpstr>
      <vt:lpstr>Consolas</vt:lpstr>
      <vt:lpstr>Helvetica Neue</vt:lpstr>
      <vt:lpstr>Arial</vt:lpstr>
      <vt:lpstr>White</vt:lpstr>
      <vt:lpstr>PowerPoint Presentation</vt:lpstr>
      <vt:lpstr>பாடம் தொடக்கம்:</vt:lpstr>
      <vt:lpstr>பதில்கள்</vt:lpstr>
      <vt:lpstr>விசாரணை</vt:lpstr>
      <vt:lpstr>PowerPoint Presentation</vt:lpstr>
      <vt:lpstr>பைத்தானில் லூப்ஸ்</vt:lpstr>
      <vt:lpstr>பைத்தானில் லூப்ஸ்</vt:lpstr>
      <vt:lpstr>Loops in Python</vt:lpstr>
      <vt:lpstr>Loops in Python</vt:lpstr>
      <vt:lpstr>செயல்பாடு 1: while loop ஐஆராய்தல்</vt:lpstr>
      <vt:lpstr>பைத்தானில் லூப்ஸ்</vt:lpstr>
      <vt:lpstr>பைத்தானைப் பயன்படுத்துதல் - தீர்வுகள்</vt:lpstr>
      <vt:lpstr>பைத்தானைப் பயன்படுத்துதல் - தீர்வுகள்</vt:lpstr>
      <vt:lpstr>செயல்பாடு 2: while loop உடன் உள்ளீடு மற்றும் மொத்தமாக்கல்</vt:lpstr>
      <vt:lpstr>மீண்டும் மீண்டும் உள்ளீடு</vt:lpstr>
      <vt:lpstr>மீண்டும் மீண்டும் உள்ளீடு</vt:lpstr>
      <vt:lpstr>மீண்டும் மீண்டும் உள்ளீடு</vt:lpstr>
      <vt:lpstr>மீண்டும் மீண்டும் உள்ளீடு</vt:lpstr>
      <vt:lpstr>மீண்டும் மீண்டும் உள்ளீடு</vt:lpstr>
      <vt:lpstr>மீண்டும் மீண்டும் உள்ளீடு</vt:lpstr>
      <vt:lpstr>மீண்டும் மீண்டும் உள்ளீடு</vt:lpstr>
      <vt:lpstr>மீண்டும் மீண்டும் உள்ளீடு</vt:lpstr>
      <vt:lpstr>Repeating Input</vt:lpstr>
      <vt:lpstr>மீண்டும் மீண்டும் உள்ளீடு</vt:lpstr>
      <vt:lpstr>பிழை எடுத்துக்காட்டு 1</vt:lpstr>
      <vt:lpstr>பிழை எடுத்துக்காட்டு  2</vt:lpstr>
      <vt:lpstr>பயிற்சிகள்</vt:lpstr>
      <vt:lpstr>மீண்டும் மீண்டும் உள்ளீடு - தீர்வுகள்</vt:lpstr>
      <vt:lpstr>மீண்டும் மீண்டும் உள்ளீடு - தீர்வுகள்</vt:lpstr>
      <vt:lpstr>மீண்டும் மீண்டும் உள்ளீடு - தீர்வுகள்</vt:lpstr>
      <vt:lpstr>நிறைவு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UZER</dc:creator>
  <cp:lastModifiedBy>yashika R</cp:lastModifiedBy>
  <cp:revision>21</cp:revision>
  <dcterms:modified xsi:type="dcterms:W3CDTF">2025-06-24T10:54:13Z</dcterms:modified>
</cp:coreProperties>
</file>